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replacing this slide. Committee names carried over from the previous draft, verify spelling and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Landscape character: heterogeneous forest, extensive wetland, agriculture, low-density development.
Why change here matters: harvest drives regional forest economy; beaver flowage alters hydrology and habitat; insect and disease mortality threatens species composition, including black ash.
Grid: continuous fishnet over terrestrial MN, WI, and Michigan UP, US only, Great Lakes water excluded, roughly 21,561 cells.
Black boxes are the 180 interpreted cells, spread across the whole grid.
Seven of nine GLKN park units fall inside the grid, and they supply the change training polygons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Harvest: clear boundaries, high contrast, the easiest case. Regionally the dominant disturbance by area.
Development: slow, small, often below the patch size that change detection is tuned for.
Beaver: ecologically interesting and spectrally hard. Flooded forest can look like wetland, water, or dead canopy depending on stage.
Insect and disease: mortality without removal, so canopy structure changes and the spectral signal is weak.
A human interpreter can usually name the agent from NAIP. That is what makes this attribution, not just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practice: detect-then-attribute. Olofsson et al. 2014 is the reference for good practice on accuracy and area estimation.
The two-stage structure means a missed detection can never be attributed, and a false detection gets a cause assigned to it.
Attribution errors are therefore not independent of detection errors, they compound.
Our alternative: attribute directly from a single classification, no detection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Design-based accuracy assessment from a probability sample is the accepted standard, Olofsson et al. 2014, Stehman 2014.
It supports unbiased estimates of accuracy and area with quantified uncertainty.
Our question is different: not how accurate is this map, but which of these two maps is better.
That is the comparison anyone selecting a sensor, feature set, or algorithm actually has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work with Rob Kennedy. Simulated 6 by 6 km landscapes, patch structure from real imagery, stochastic disturbance at a target rate.
Four renditions of truth with increasing omission, commission, spatial misalignment, and edge effects.
Sample is stratified random, n = 50, corrected following Olofsson et al. 2014, so this is the recommended estimator, not a naive one.
Two findings: the sampled estimate scatters widely, and for the degraded maps it sits above the one-to-one line, so the sample paints a rosier picture than the map deserves.
Binary two-class problem, the easiest case. Ten classes should be worse.
Consequence: to compare maps we need reference labels everywhere, not at scattered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Trained on large unlabeled archives, then applied to downstream tasks with little labeled data.
In remote sensing this matters because labels are scarce and expensive, which is exactly our situation.
Instead of hand-designing indices for each task, you get a learned feature vector per pixel.
The promise is that sparse labels go further. The open question is what the representation actually encodes.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at inference: Sentinel-2, Landsat 8 and 9, Sentinel-1. Everything else is training-time only.
Training targets also include ALOS PALSAR, Copernicus DEM, GEDI, ERA5-Land, GRACE, NLCD, and text embeddings from Wikipedia and GBIF.
Spatial context is 1.28 km, 128 by 128 pixels at 10 m, so each pixel's embedding is informed by its neighborhood.
Support period is the window input imagery is drawn from; valid period is the window summarized. They need not coincide.
NLCD was a training target. Our stable classes map closely onto NLCD classes, which may help stable-class performance and does nothing for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embedding summarizes a year, so change is not represented natively, it has to be constructed from two years.
The AEF authors suggest the dot product between two years as a similarity measure, which gives a magnitude of change.
A magnitude says how much changed, not what happened. Attribution needs the latter.
That gap is the opening for this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it plainly and let it sit.
This is the question the whole talk answers, and the answer is qualified rather than yes or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is a representation problem, question two is a measurement problem.
Colors return in the results section so the audience can track which question each result answers.
The two turn out to be linked, which is the closing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GLKN change polygons: attributed by agent, 2010 to 2020, across seven park units inside the grid.
Hundreds of thousands of labeled change pixels, already attributed to cause.
This is what makes a ten-class attribution scheme trainable at all.
We add our own wall-to-wall interpreted cells on top, for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GLKN polygons plus NAIP at two dates, interpreted wall to wall.
Features: two parallel tracks, AlphaEarth embeddings and spectral composites, from the same three sensors.
Classifier: Random Forest, 300 trees, identical across every configuration. That is the control that makes the comparison valid.
Evaluation: accuracy plus spatial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CKIT-RF, built for this project. Interpreter-driven Random Forest inside a single cell.
Output is a fully labeled cell, not a set of points, which is what lets us compare maps rather than just score them.
Five interpreters. Cells drawn randomly across the grid, stratified by NAIP acquisition bracket.
72 cells interpreted independently by two people. That overlap is what makes the reliability analysis possible.
If asked about cell distribution: brackets follow state NAIP acquisition cadence, so spatial spread partly tracks acquisition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the audience knows what the reference is, this figure means something.
About 1.6 percent of reference pixels are change. That number returns later as the trivial-baseline problem.
The four agents differ from each other by orders of magnitude, not just from stable classes.
Rarity constrains three separate things: what the classifier can learn, whether a sample sees the class at all, and how well interpreters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each of which produces a separate result later.
Rare drives class absence in samples and thin training pools.
Clustered drives the design effect, meaning fewer independent observations than pixel counts suggest.
Ambiguous drives the reference ceiling, which is the reason the change classes cannot be fixed by a better classifier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embeddings, 2018 and 2020, 64 dimensions each.
Delta: element-wise difference, direction of change in embedding space.
Dot product: similarity between the two years, collapses to a single magnitude.
These are the two operations available. The design question is what to combine them with.
On year choice: 2018 and 2020 bracket the interpretation dates; happy to say more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 and v3 keep a full baseline embedding alongside change.
v4 is delta only, no baseline.
v5 is baseline plus dot product.
v6 is dot product only, the AEF authors' suggested similarity measure on its own.
The design variable is whether a baseline embedding survives into the feature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null hypothesis. Without it, a good embedding score means nothing.
Critically, these are the same three sensors AEF requires at inference, so the comparison holds input information constant and varies only representation.
That is a cleaner control than most embedding versus spectral comparisons, which use whatever baseline was convenient.
If embeddings do not beat this, the representation is not adding anything for this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classes were used for training. Reporting collapses the six stable classes into one.
Rationale: forest confused with wetland is not the error we care about. Missing a harvest is.
Collapse is defined once and applied identically to every configuration.
Ten-class results exist and are in the supplement.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before results so the audience knows what each number is for.
First three result slides answer question one, the rest answer question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Five-class collapse, four change classes, every configuration plus the spectral baseline.
Higher is better. F1 balances missing real change against calling change where there is none.
Harvest is the only class any configuration handles at all.
Development, beaver, and insect or disease are near zero everywhere, including spectral.
The uniformity is the informative part: if representation were the binding constraint, configurations would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first objection, so answer it directly.
Beaver has a training pool of only about 502 pixels, so the cap is a large share of what exists.
Pushing the classifier to find more beaver only makes it predict beaver far more often than beaver occurs.
That is a precision problem, and a training budget cannot solve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Per-cell macro-F1 on the common 168-cell set, so this is a like-for-like comparison.
The baseline-preserving configurations and the spectral composite land in the same range.
Answer to question one, part one: keeping a baseline embedding matters, and embeddings do not beat a matched spectral composite on accuracy.
So the interesting difference between them is not statistical. Set up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The uniformity of the failure is the clue.
If features were the constraint, configurations would separate. They do not.
What every configuration shares is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 double-interpreted cells, five interpreters, cluster bootstrap by pair.
The classes interpreters agree on least are the classes the classifiers fail on most.
Beaver agreement is 0.077 with a confidence interval reaching zero. Two trained people essentially do not agree on beaver.
Inter-interpreter reliability is an established concern in reference data, see Stehman and Czaplewski 1998, Foody 2010, Pengra et al. 2020.
Evidence that this is conceptual rather than geometric: contested zones are large and interior, both interpreters placed training points in them and assigned different classes, and relaxing spatial tolerance does not recover agreement for the transitional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ceiling is what the reference can support, not what the classifier can do.
Stable classes approach it, so those are model-limited: better features should help.
Harvest has a high ceiling, 0.75, and the model does not reach it. That gap is a genuine model shortfall.
Beaver model F1 0.004 against a ceiling of 0.077; insect and disease 0.016 against 0.229. The ceiling explains why they are hard and does not close the gap.
Defensible claim: a better classifier alone cannot fix these classes. Not that the classifier is already at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question two, and the point where aggregate metrics stop helping.
Accuracy has told us what it can. The rest is spatial.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panel first, then each configuration on identical ground.
Same classifier, same training data, same reference. Only the feature representation differs.
Baseline-preserving configurations give contiguous patches. Delta-only is grainy. Dot-product-only is salt and pepper.
Ask the audience which map they would give a park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metric shown; we computed three and they agree, so the choice is not doing any work.
Reference median-by-area about 239 ha. v2 about 110, spec_all about 47, v6 essentially zero.
Note the direction honestly: coherent configurations are smoother than the reference on Moran's I, 0.82 against 0.75, so the failure mode is over-smoothing rather than fragmentation.
Spectral composite is more fragmented than the coherent embedding configurations.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thing to remember.
v4 is delta-only: highest five-class overall accuracy at 0.894, among the most fragmented maps, and fourth of five on ten-class accuracy.
The dashed line is predicting Stable everywhere, 0.984, which beats every configuration. With change at 1.6 percent of the landscape, overall accuracy is uninformative.
A conventional assessment, aggregate accuracy from a point sample, would have picked v4 or called them equivalent.
On rank correlation: five points describe five points, the informative feature is where v4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opened before the methods.
Question one has a clean answer. Question two has a method answer rather than a number.
The link between them is the thesis: the property that distinguishes representations is the property conventional assessment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in the order the talk established them.
First two answer question one, second two answer question two.
The fourth is the one that generalizes furthest: any rare, conceptually ambiguous class inherits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is the one most likely to be pressed: polygon frequencies describe surveyed watersheds, and classifiers extrapolate to a broader landscape.
72 cells is enough for the transitional-class result and thin for the rarest agents.
Next step: latent class models on the double-interpreted cells estimate interpreter sensitivity and specificity without a gold standard, turning the reliability bound into 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committee names and roles against the 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rate against cell size by agent. At 112 px (3,360 m) harvest appears in about 60% of complete cells, development 31%, beaver 9%, insect and disease 3%. Cell size trades detection of rare agents against interpretation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Per-bracket overall accuracy. Brackets use disjoint cell sets, so these are independent assessments rather than a transfer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point per contributing cell. Contributing cell counts differ across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Fraction of Monte Carlo iterations in which a class is entirely absent from a simple random sample. For the rare change classes an accuracy estimate is undefined, not merely imprecise. A window is the block of contiguous pixels drawn at each sample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effect, observed variance over binomial variance. Large for the coherent configurations, near one for the fragmented one. Spatial coherence inflates the variance of any estimate drawn from clustered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random misses the change classes, stratified unweighted is biased, stratified with inclusion-probability weights recovers the census.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improves as one over root n. Each spatial window contributes less than its pixel count owing to within-window autocorrelation.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Truth plus four renditions with increasing omission, commission, spatial misalignment, and edge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Allowing a match within 3 or 5 pixels recovers boundary-driven disagreement. Grass/shrub and wetland recover little, which is evidence the disagreement is conceptual.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Contested area is in large interior zones, not thin boundary strips. Dominant contested pairs are forest with wetland and grass/shrub with wetland.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interpreters placed training points in the same contested zone and assigned different classes. Direct evidence of conceptual rather than geometric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Wetland 0.475, grass/shrub 0.289. The transitional stable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0.75, coherent configurations 0.82, v6 0.08. The coherent configurations are smoother than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Class-level comparison of the two feature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families gives at most a three-point gain over the better single family, not significant, with wider out-of-bag to validation gaps suggesting feature dilution.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points in Tasseled Cap change space. Use if asked whether the change classes are separable in a conventional spectral change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Delta scatter, mean-delta signature, and linear discriminant projection.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Five-class collapse, counts colored by row proportion. Shows which classes absorb the change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spectral baseline on 168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GLKN polygon area by agent, log hectares, 2010 to 2020. Median areas are similar; counts differ by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Restricted to the 2018 to 2020 classification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 of stratified to simple-random standard deviation. Below one means stratification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Per-class correlation of map against reference area proportions with sample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accuracy across 100 random pick-one-interpretation draws. Spread under one accuracy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ratio of pixels a reviewer claims that the partner does not, against the reverse. Use if asked whether one interpreter drives the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554480"/>
            <a:ext cx="10515600" cy="1737360"/>
          </a:xfrm>
          <a:prstGeom prst="rect">
            <a:avLst/>
          </a:prstGeom>
          <a:noFill/>
          <a:ln/>
        </p:spPr>
        <p:txBody>
          <a:bodyPr wrap="square" lIns="0" tIns="0" rIns="0" bIns="0" rtlCol="0" anchor="ctr"/>
          <a:lstStyle/>
          <a:p>
            <a:pPr indent="0" marL="0">
              <a:buNone/>
            </a:pPr>
            <a:r>
              <a:rPr lang="en-US" sz="3400" b="1" dirty="0">
                <a:solidFill>
                  <a:srgbClr val="1A1A1A"/>
                </a:solidFill>
                <a:latin typeface="Arial" pitchFamily="34" charset="0"/>
                <a:ea typeface="Arial" pitchFamily="34" charset="-122"/>
                <a:cs typeface="Arial" pitchFamily="34" charset="-120"/>
              </a:rPr>
              <a:t>Structuring satellite embeddings for multi-class landscape change attribution</a:t>
            </a:r>
            <a:endParaRPr lang="en-US" sz="3400" dirty="0"/>
          </a:p>
        </p:txBody>
      </p:sp>
      <p:sp>
        <p:nvSpPr>
          <p:cNvPr id="3" name="Text 1"/>
          <p:cNvSpPr/>
          <p:nvPr/>
        </p:nvSpPr>
        <p:spPr>
          <a:xfrm>
            <a:off x="822960" y="3383280"/>
            <a:ext cx="10515600" cy="1828800"/>
          </a:xfrm>
          <a:prstGeom prst="rect">
            <a:avLst/>
          </a:prstGeom>
          <a:noFill/>
          <a:ln/>
        </p:spPr>
        <p:txBody>
          <a:bodyPr wrap="square" lIns="0" tIns="0" rIns="0" bIns="0" rtlCol="0" anchor="ctr"/>
          <a:lstStyle/>
          <a:p>
            <a:pPr indent="0" marL="0">
              <a:lnSpc>
                <a:spcPts val="2500"/>
              </a:lnSpc>
              <a:buNone/>
            </a:pPr>
            <a:r>
              <a:rPr lang="en-US" sz="1600" dirty="0">
                <a:solidFill>
                  <a:srgbClr val="333333"/>
                </a:solidFill>
                <a:latin typeface="Arial" pitchFamily="34" charset="0"/>
                <a:ea typeface="Arial" pitchFamily="34" charset="-122"/>
                <a:cs typeface="Arial" pitchFamily="34" charset="-120"/>
              </a:rPr>
              <a:t>Mina Burns</a:t>
            </a:r>
            <a:endParaRPr lang="en-US" sz="1600" dirty="0"/>
          </a:p>
          <a:p>
            <a:pPr indent="0" marL="0">
              <a:lnSpc>
                <a:spcPts val="2500"/>
              </a:lnSpc>
              <a:buNone/>
            </a:pPr>
            <a:r>
              <a:rPr lang="en-US" sz="1600" dirty="0">
                <a:solidFill>
                  <a:srgbClr val="333333"/>
                </a:solidFill>
                <a:latin typeface="Arial" pitchFamily="34" charset="0"/>
                <a:ea typeface="Arial" pitchFamily="34" charset="-122"/>
                <a:cs typeface="Arial" pitchFamily="34" charset="-120"/>
              </a:rPr>
              <a:t>M.S. defense, 7 August 2026</a:t>
            </a:r>
            <a:endParaRPr lang="en-US" sz="1600" dirty="0"/>
          </a:p>
          <a:p>
            <a:pPr indent="0" marL="0">
              <a:lnSpc>
                <a:spcPts val="2500"/>
              </a:lnSpc>
              <a:buNone/>
            </a:pPr>
            <a:r>
              <a:rPr lang="en-US" sz="1600" dirty="0">
                <a:solidFill>
                  <a:srgbClr val="333333"/>
                </a:solidFill>
                <a:latin typeface="Arial" pitchFamily="34" charset="0"/>
                <a:ea typeface="Arial" pitchFamily="34" charset="-122"/>
                <a:cs typeface="Arial" pitchFamily="34" charset="-120"/>
              </a:rPr>
              <a:t>eMapR Lab, Oregon State University</a:t>
            </a:r>
            <a:endParaRPr lang="en-US" sz="1600" dirty="0"/>
          </a:p>
          <a:p>
            <a:pPr indent="0" marL="0">
              <a:lnSpc>
                <a:spcPts val="2500"/>
              </a:lnSpc>
              <a:buNone/>
            </a:pPr>
            <a:endParaRPr lang="en-US" sz="1600" dirty="0"/>
          </a:p>
          <a:p>
            <a:pPr indent="0" marL="0">
              <a:lnSpc>
                <a:spcPts val="2500"/>
              </a:lnSpc>
              <a:buNone/>
            </a:pPr>
            <a:r>
              <a:rPr lang="en-US" sz="1600" dirty="0">
                <a:solidFill>
                  <a:srgbClr val="333333"/>
                </a:solidFill>
                <a:latin typeface="Arial" pitchFamily="34" charset="0"/>
                <a:ea typeface="Arial" pitchFamily="34" charset="-122"/>
                <a:cs typeface="Arial" pitchFamily="34" charset="-120"/>
              </a:rPr>
              <a:t>Committee: Robert Kennedy (advisor), Jamon Van Den Hoek, Mark Raleigh, Hamed Alemohammad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The western Great Lakes</a:t>
            </a:r>
            <a:endParaRPr lang="en-US" sz="2800" dirty="0"/>
          </a:p>
        </p:txBody>
      </p:sp>
      <p:pic>
        <p:nvPicPr>
          <p:cNvPr id="3" name="Image 0" descr="thesis_materials/figures/fig_2_1_study_area.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Mixed northern hardwood and conifer forest, wetland, and agriculture</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Timber harvest is an economic mainstay</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Beaver reshape hydrology across whole watersheds</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Insect and disease mortality and exurban development are both expanding</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Four agents of change</a:t>
            </a:r>
            <a:endParaRPr lang="en-US" sz="2800" dirty="0"/>
          </a:p>
        </p:txBody>
      </p:sp>
      <p:pic>
        <p:nvPicPr>
          <p:cNvPr id="3" name="Image 0" descr="presentation/figures/pres_01_agents_naip.png">    </p:cNvPr>
          <p:cNvPicPr>
            <a:picLocks noChangeAspect="1"/>
          </p:cNvPicPr>
          <p:nvPr/>
        </p:nvPicPr>
        <p:blipFill>
          <a:blip r:embed="rId1"/>
          <a:srcRect l="0" r="0" t="0" b="0"/>
          <a:stretch/>
        </p:blipFill>
        <p:spPr>
          <a:xfrm>
            <a:off x="685800" y="1051560"/>
            <a:ext cx="10817352" cy="3657600"/>
          </a:xfrm>
          <a:prstGeom prst="rect">
            <a:avLst/>
          </a:prstGeom>
        </p:spPr>
      </p:pic>
      <p:sp>
        <p:nvSpPr>
          <p:cNvPr id="4" name="Shape 1"/>
          <p:cNvSpPr/>
          <p:nvPr/>
        </p:nvSpPr>
        <p:spPr>
          <a:xfrm>
            <a:off x="548640" y="4892040"/>
            <a:ext cx="2567178" cy="1600200"/>
          </a:xfrm>
          <a:prstGeom prst="rect">
            <a:avLst/>
          </a:prstGeom>
          <a:solidFill>
            <a:srgbClr val="F2F2F2"/>
          </a:solidFill>
          <a:ln w="12700">
            <a:solidFill>
              <a:srgbClr val="F2F2F2"/>
            </a:solidFill>
            <a:prstDash val="solid"/>
          </a:ln>
        </p:spPr>
      </p:sp>
      <p:sp>
        <p:nvSpPr>
          <p:cNvPr id="5" name="Text 2"/>
          <p:cNvSpPr/>
          <p:nvPr/>
        </p:nvSpPr>
        <p:spPr>
          <a:xfrm>
            <a:off x="749808" y="5056632"/>
            <a:ext cx="2164842" cy="384048"/>
          </a:xfrm>
          <a:prstGeom prst="rect">
            <a:avLst/>
          </a:prstGeom>
          <a:noFill/>
          <a:ln/>
        </p:spPr>
        <p:txBody>
          <a:bodyPr wrap="square" lIns="0" tIns="0" rIns="0" bIns="0" rtlCol="0" anchor="ctr"/>
          <a:lstStyle/>
          <a:p>
            <a:pPr indent="0" marL="0">
              <a:buNone/>
            </a:pPr>
            <a:r>
              <a:rPr lang="en-US" sz="1600" b="1" dirty="0">
                <a:solidFill>
                  <a:srgbClr val="5A5A5A"/>
                </a:solidFill>
                <a:latin typeface="Arial" pitchFamily="34" charset="0"/>
                <a:ea typeface="Arial" pitchFamily="34" charset="-122"/>
                <a:cs typeface="Arial" pitchFamily="34" charset="-120"/>
              </a:rPr>
              <a:t>Harvest</a:t>
            </a:r>
            <a:endParaRPr lang="en-US" sz="1600" dirty="0"/>
          </a:p>
        </p:txBody>
      </p:sp>
      <p:sp>
        <p:nvSpPr>
          <p:cNvPr id="6" name="Text 3"/>
          <p:cNvSpPr/>
          <p:nvPr/>
        </p:nvSpPr>
        <p:spPr>
          <a:xfrm>
            <a:off x="749808" y="5513832"/>
            <a:ext cx="2164842" cy="795528"/>
          </a:xfrm>
          <a:prstGeom prst="rect">
            <a:avLst/>
          </a:prstGeom>
          <a:noFill/>
          <a:ln/>
        </p:spPr>
        <p:txBody>
          <a:bodyPr wrap="square" lIns="0" tIns="0" rIns="0" bIns="0" rtlCol="0" anchor="t"/>
          <a:lstStyle/>
          <a:p>
            <a:pPr indent="0" marL="0">
              <a:lnSpc>
                <a:spcPts val="2000"/>
              </a:lnSpc>
              <a:buNone/>
            </a:pPr>
            <a:r>
              <a:rPr lang="en-US" sz="1300" dirty="0">
                <a:solidFill>
                  <a:srgbClr val="333333"/>
                </a:solidFill>
                <a:latin typeface="Arial" pitchFamily="34" charset="0"/>
                <a:ea typeface="Arial" pitchFamily="34" charset="-122"/>
                <a:cs typeface="Arial" pitchFamily="34" charset="-120"/>
              </a:rPr>
              <a:t>Abrupt, geometric, economically central</a:t>
            </a:r>
            <a:endParaRPr lang="en-US" sz="1300" dirty="0"/>
          </a:p>
        </p:txBody>
      </p:sp>
      <p:sp>
        <p:nvSpPr>
          <p:cNvPr id="7" name="Shape 4"/>
          <p:cNvSpPr/>
          <p:nvPr/>
        </p:nvSpPr>
        <p:spPr>
          <a:xfrm>
            <a:off x="3390138" y="4892040"/>
            <a:ext cx="2567178" cy="1600200"/>
          </a:xfrm>
          <a:prstGeom prst="rect">
            <a:avLst/>
          </a:prstGeom>
          <a:solidFill>
            <a:srgbClr val="F2F2F2"/>
          </a:solidFill>
          <a:ln w="12700">
            <a:solidFill>
              <a:srgbClr val="F2F2F2"/>
            </a:solidFill>
            <a:prstDash val="solid"/>
          </a:ln>
        </p:spPr>
      </p:sp>
      <p:sp>
        <p:nvSpPr>
          <p:cNvPr id="8" name="Text 5"/>
          <p:cNvSpPr/>
          <p:nvPr/>
        </p:nvSpPr>
        <p:spPr>
          <a:xfrm>
            <a:off x="3591306" y="5056632"/>
            <a:ext cx="2164842" cy="384048"/>
          </a:xfrm>
          <a:prstGeom prst="rect">
            <a:avLst/>
          </a:prstGeom>
          <a:noFill/>
          <a:ln/>
        </p:spPr>
        <p:txBody>
          <a:bodyPr wrap="square" lIns="0" tIns="0" rIns="0" bIns="0" rtlCol="0" anchor="ctr"/>
          <a:lstStyle/>
          <a:p>
            <a:pPr indent="0" marL="0">
              <a:buNone/>
            </a:pPr>
            <a:r>
              <a:rPr lang="en-US" sz="1600" b="1" dirty="0">
                <a:solidFill>
                  <a:srgbClr val="5A5A5A"/>
                </a:solidFill>
                <a:latin typeface="Arial" pitchFamily="34" charset="0"/>
                <a:ea typeface="Arial" pitchFamily="34" charset="-122"/>
                <a:cs typeface="Arial" pitchFamily="34" charset="-120"/>
              </a:rPr>
              <a:t>Development</a:t>
            </a:r>
            <a:endParaRPr lang="en-US" sz="1600" dirty="0"/>
          </a:p>
        </p:txBody>
      </p:sp>
      <p:sp>
        <p:nvSpPr>
          <p:cNvPr id="9" name="Text 6"/>
          <p:cNvSpPr/>
          <p:nvPr/>
        </p:nvSpPr>
        <p:spPr>
          <a:xfrm>
            <a:off x="3591306" y="5513832"/>
            <a:ext cx="2164842" cy="795528"/>
          </a:xfrm>
          <a:prstGeom prst="rect">
            <a:avLst/>
          </a:prstGeom>
          <a:noFill/>
          <a:ln/>
        </p:spPr>
        <p:txBody>
          <a:bodyPr wrap="square" lIns="0" tIns="0" rIns="0" bIns="0" rtlCol="0" anchor="t"/>
          <a:lstStyle/>
          <a:p>
            <a:pPr indent="0" marL="0">
              <a:lnSpc>
                <a:spcPts val="2000"/>
              </a:lnSpc>
              <a:buNone/>
            </a:pPr>
            <a:r>
              <a:rPr lang="en-US" sz="1300" dirty="0">
                <a:solidFill>
                  <a:srgbClr val="333333"/>
                </a:solidFill>
                <a:latin typeface="Arial" pitchFamily="34" charset="0"/>
                <a:ea typeface="Arial" pitchFamily="34" charset="-122"/>
                <a:cs typeface="Arial" pitchFamily="34" charset="-120"/>
              </a:rPr>
              <a:t>Gradual conversion at the exurban fringe</a:t>
            </a:r>
            <a:endParaRPr lang="en-US" sz="1300" dirty="0"/>
          </a:p>
        </p:txBody>
      </p:sp>
      <p:sp>
        <p:nvSpPr>
          <p:cNvPr id="10" name="Shape 7"/>
          <p:cNvSpPr/>
          <p:nvPr/>
        </p:nvSpPr>
        <p:spPr>
          <a:xfrm>
            <a:off x="6231636" y="4892040"/>
            <a:ext cx="2567178" cy="1600200"/>
          </a:xfrm>
          <a:prstGeom prst="rect">
            <a:avLst/>
          </a:prstGeom>
          <a:solidFill>
            <a:srgbClr val="F2F2F2"/>
          </a:solidFill>
          <a:ln w="12700">
            <a:solidFill>
              <a:srgbClr val="F2F2F2"/>
            </a:solidFill>
            <a:prstDash val="solid"/>
          </a:ln>
        </p:spPr>
      </p:sp>
      <p:sp>
        <p:nvSpPr>
          <p:cNvPr id="11" name="Text 8"/>
          <p:cNvSpPr/>
          <p:nvPr/>
        </p:nvSpPr>
        <p:spPr>
          <a:xfrm>
            <a:off x="6432804" y="5056632"/>
            <a:ext cx="2164842" cy="384048"/>
          </a:xfrm>
          <a:prstGeom prst="rect">
            <a:avLst/>
          </a:prstGeom>
          <a:noFill/>
          <a:ln/>
        </p:spPr>
        <p:txBody>
          <a:bodyPr wrap="square" lIns="0" tIns="0" rIns="0" bIns="0" rtlCol="0" anchor="ctr"/>
          <a:lstStyle/>
          <a:p>
            <a:pPr indent="0" marL="0">
              <a:buNone/>
            </a:pPr>
            <a:r>
              <a:rPr lang="en-US" sz="1600" b="1" dirty="0">
                <a:solidFill>
                  <a:srgbClr val="5A5A5A"/>
                </a:solidFill>
                <a:latin typeface="Arial" pitchFamily="34" charset="0"/>
                <a:ea typeface="Arial" pitchFamily="34" charset="-122"/>
                <a:cs typeface="Arial" pitchFamily="34" charset="-120"/>
              </a:rPr>
              <a:t>Beaver</a:t>
            </a:r>
            <a:endParaRPr lang="en-US" sz="1600" dirty="0"/>
          </a:p>
        </p:txBody>
      </p:sp>
      <p:sp>
        <p:nvSpPr>
          <p:cNvPr id="12" name="Text 9"/>
          <p:cNvSpPr/>
          <p:nvPr/>
        </p:nvSpPr>
        <p:spPr>
          <a:xfrm>
            <a:off x="6432804" y="5513832"/>
            <a:ext cx="2164842" cy="795528"/>
          </a:xfrm>
          <a:prstGeom prst="rect">
            <a:avLst/>
          </a:prstGeom>
          <a:noFill/>
          <a:ln/>
        </p:spPr>
        <p:txBody>
          <a:bodyPr wrap="square" lIns="0" tIns="0" rIns="0" bIns="0" rtlCol="0" anchor="t"/>
          <a:lstStyle/>
          <a:p>
            <a:pPr indent="0" marL="0">
              <a:lnSpc>
                <a:spcPts val="2000"/>
              </a:lnSpc>
              <a:buNone/>
            </a:pPr>
            <a:r>
              <a:rPr lang="en-US" sz="1300" dirty="0">
                <a:solidFill>
                  <a:srgbClr val="333333"/>
                </a:solidFill>
                <a:latin typeface="Arial" pitchFamily="34" charset="0"/>
                <a:ea typeface="Arial" pitchFamily="34" charset="-122"/>
                <a:cs typeface="Arial" pitchFamily="34" charset="-120"/>
              </a:rPr>
              <a:t>Flooding, diffuse edges, spectrally subtle</a:t>
            </a:r>
            <a:endParaRPr lang="en-US" sz="1300" dirty="0"/>
          </a:p>
        </p:txBody>
      </p:sp>
      <p:sp>
        <p:nvSpPr>
          <p:cNvPr id="13" name="Shape 10"/>
          <p:cNvSpPr/>
          <p:nvPr/>
        </p:nvSpPr>
        <p:spPr>
          <a:xfrm>
            <a:off x="9073134" y="4892040"/>
            <a:ext cx="2567178" cy="1600200"/>
          </a:xfrm>
          <a:prstGeom prst="rect">
            <a:avLst/>
          </a:prstGeom>
          <a:solidFill>
            <a:srgbClr val="F2F2F2"/>
          </a:solidFill>
          <a:ln w="12700">
            <a:solidFill>
              <a:srgbClr val="F2F2F2"/>
            </a:solidFill>
            <a:prstDash val="solid"/>
          </a:ln>
        </p:spPr>
      </p:sp>
      <p:sp>
        <p:nvSpPr>
          <p:cNvPr id="14" name="Text 11"/>
          <p:cNvSpPr/>
          <p:nvPr/>
        </p:nvSpPr>
        <p:spPr>
          <a:xfrm>
            <a:off x="9274302" y="5056632"/>
            <a:ext cx="2164842" cy="384048"/>
          </a:xfrm>
          <a:prstGeom prst="rect">
            <a:avLst/>
          </a:prstGeom>
          <a:noFill/>
          <a:ln/>
        </p:spPr>
        <p:txBody>
          <a:bodyPr wrap="square" lIns="0" tIns="0" rIns="0" bIns="0" rtlCol="0" anchor="ctr"/>
          <a:lstStyle/>
          <a:p>
            <a:pPr indent="0" marL="0">
              <a:buNone/>
            </a:pPr>
            <a:r>
              <a:rPr lang="en-US" sz="1600" b="1" dirty="0">
                <a:solidFill>
                  <a:srgbClr val="5A5A5A"/>
                </a:solidFill>
                <a:latin typeface="Arial" pitchFamily="34" charset="0"/>
                <a:ea typeface="Arial" pitchFamily="34" charset="-122"/>
                <a:cs typeface="Arial" pitchFamily="34" charset="-120"/>
              </a:rPr>
              <a:t>Insect / disease</a:t>
            </a:r>
            <a:endParaRPr lang="en-US" sz="1600" dirty="0"/>
          </a:p>
        </p:txBody>
      </p:sp>
      <p:sp>
        <p:nvSpPr>
          <p:cNvPr id="15" name="Text 12"/>
          <p:cNvSpPr/>
          <p:nvPr/>
        </p:nvSpPr>
        <p:spPr>
          <a:xfrm>
            <a:off x="9274302" y="5513832"/>
            <a:ext cx="2164842" cy="795528"/>
          </a:xfrm>
          <a:prstGeom prst="rect">
            <a:avLst/>
          </a:prstGeom>
          <a:noFill/>
          <a:ln/>
        </p:spPr>
        <p:txBody>
          <a:bodyPr wrap="square" lIns="0" tIns="0" rIns="0" bIns="0" rtlCol="0" anchor="t"/>
          <a:lstStyle/>
          <a:p>
            <a:pPr indent="0" marL="0">
              <a:lnSpc>
                <a:spcPts val="2000"/>
              </a:lnSpc>
              <a:buNone/>
            </a:pPr>
            <a:r>
              <a:rPr lang="en-US" sz="1300" dirty="0">
                <a:solidFill>
                  <a:srgbClr val="333333"/>
                </a:solidFill>
                <a:latin typeface="Arial" pitchFamily="34" charset="0"/>
                <a:ea typeface="Arial" pitchFamily="34" charset="-122"/>
                <a:cs typeface="Arial" pitchFamily="34" charset="-120"/>
              </a:rPr>
              <a:t>Partial canopy loss, no clear boundary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How change is mapped now</a:t>
            </a:r>
            <a:endParaRPr lang="en-US" sz="2800" dirty="0"/>
          </a:p>
        </p:txBody>
      </p:sp>
      <p:sp>
        <p:nvSpPr>
          <p:cNvPr id="3" name="Shape 1"/>
          <p:cNvSpPr/>
          <p:nvPr/>
        </p:nvSpPr>
        <p:spPr>
          <a:xfrm>
            <a:off x="502920" y="1051560"/>
            <a:ext cx="7589520" cy="5349240"/>
          </a:xfrm>
          <a:prstGeom prst="rect">
            <a:avLst/>
          </a:prstGeom>
          <a:solidFill>
            <a:srgbClr val="FFFFFF"/>
          </a:solidFill>
          <a:ln w="12700">
            <a:solidFill>
              <a:srgbClr val="C8C8C8"/>
            </a:solidFill>
            <a:prstDash val="dash"/>
          </a:ln>
        </p:spPr>
      </p:sp>
      <p:sp>
        <p:nvSpPr>
          <p:cNvPr id="4" name="Text 2"/>
          <p:cNvSpPr/>
          <p:nvPr/>
        </p:nvSpPr>
        <p:spPr>
          <a:xfrm>
            <a:off x="502920" y="3451860"/>
            <a:ext cx="7589520" cy="548640"/>
          </a:xfrm>
          <a:prstGeom prst="rect">
            <a:avLst/>
          </a:prstGeom>
          <a:noFill/>
          <a:ln/>
        </p:spPr>
        <p:txBody>
          <a:bodyPr wrap="square" lIns="0" tIns="0" rIns="0" bIns="0" rtlCol="0" anchor="ctr"/>
          <a:lstStyle/>
          <a:p>
            <a:pPr algn="ctr" indent="0" marL="0">
              <a:buNone/>
            </a:pPr>
            <a:r>
              <a:rPr lang="en-US" sz="1400" dirty="0">
                <a:solidFill>
                  <a:srgbClr val="8A8A8A"/>
                </a:solidFill>
                <a:latin typeface="Arial" pitchFamily="34" charset="0"/>
                <a:ea typeface="Arial" pitchFamily="34" charset="-122"/>
                <a:cs typeface="Arial" pitchFamily="34" charset="-120"/>
              </a:rPr>
              <a:t>[ pres_12_olofsson_standard.png ]</a:t>
            </a:r>
            <a:endParaRPr lang="en-US" sz="1400" dirty="0"/>
          </a:p>
        </p:txBody>
      </p:sp>
      <p:sp>
        <p:nvSpPr>
          <p:cNvPr id="5" name="Text 3"/>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rgbClr val="333333"/>
                </a:solidFill>
                <a:latin typeface="Arial" pitchFamily="34" charset="0"/>
                <a:ea typeface="Arial" pitchFamily="34" charset="-122"/>
                <a:cs typeface="Arial" pitchFamily="34" charset="-120"/>
              </a:rPr>
              <a:t>Detect change first</a:t>
            </a:r>
            <a:endParaRPr lang="en-US" sz="1900" dirty="0"/>
          </a:p>
          <a:p>
            <a:pPr marL="342900" indent="-342900">
              <a:spcAft>
                <a:spcPts val="1200"/>
              </a:spcAft>
              <a:buSzPct val="100000"/>
              <a:buChar char="•"/>
            </a:pPr>
            <a:r>
              <a:rPr lang="en-US" sz="1900" dirty="0">
                <a:solidFill>
                  <a:srgbClr val="333333"/>
                </a:solidFill>
                <a:latin typeface="Arial" pitchFamily="34" charset="0"/>
                <a:ea typeface="Arial" pitchFamily="34" charset="-122"/>
                <a:cs typeface="Arial" pitchFamily="34" charset="-120"/>
              </a:rPr>
              <a:t>Label the cause second</a:t>
            </a:r>
            <a:endParaRPr lang="en-US" sz="1900" dirty="0"/>
          </a:p>
          <a:p>
            <a:pPr marL="342900" indent="-342900">
              <a:spcAft>
                <a:spcPts val="1200"/>
              </a:spcAft>
              <a:buSzPct val="100000"/>
              <a:buChar char="•"/>
            </a:pPr>
            <a:r>
              <a:rPr lang="en-US" sz="1900" dirty="0">
                <a:solidFill>
                  <a:srgbClr val="333333"/>
                </a:solidFill>
                <a:latin typeface="Arial" pitchFamily="34" charset="0"/>
                <a:ea typeface="Arial" pitchFamily="34" charset="-122"/>
                <a:cs typeface="Arial" pitchFamily="34" charset="-120"/>
              </a:rPr>
              <a:t>Errors from step one carry into step two</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And how do we know a map is good?</a:t>
            </a:r>
            <a:endParaRPr lang="en-US" sz="2800" dirty="0"/>
          </a:p>
        </p:txBody>
      </p:sp>
      <p:pic>
        <p:nvPicPr>
          <p:cNvPr id="3" name="Image 0" descr="presentation/figures/pres_05_census_vs_points.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rgbClr val="333333"/>
                </a:solidFill>
                <a:latin typeface="Arial" pitchFamily="34" charset="0"/>
                <a:ea typeface="Arial" pitchFamily="34" charset="-122"/>
                <a:cs typeface="Arial" pitchFamily="34" charset="-120"/>
              </a:rPr>
              <a:t>The standard is a sample of points</a:t>
            </a:r>
            <a:endParaRPr lang="en-US" sz="1900" dirty="0"/>
          </a:p>
          <a:p>
            <a:pPr marL="342900" indent="-342900">
              <a:spcAft>
                <a:spcPts val="1200"/>
              </a:spcAft>
              <a:buSzPct val="100000"/>
              <a:buChar char="•"/>
            </a:pPr>
            <a:r>
              <a:rPr lang="en-US" sz="1900" dirty="0">
                <a:solidFill>
                  <a:srgbClr val="333333"/>
                </a:solidFill>
                <a:latin typeface="Arial" pitchFamily="34" charset="0"/>
                <a:ea typeface="Arial" pitchFamily="34" charset="-122"/>
                <a:cs typeface="Arial" pitchFamily="34" charset="-120"/>
              </a:rPr>
              <a:t>Cheap, unbiased, and well understood</a:t>
            </a:r>
            <a:endParaRPr lang="en-US" sz="1900" dirty="0"/>
          </a:p>
          <a:p>
            <a:pPr marL="342900" indent="-342900">
              <a:spcAft>
                <a:spcPts val="1200"/>
              </a:spcAft>
              <a:buSzPct val="100000"/>
              <a:buChar char="•"/>
            </a:pPr>
            <a:r>
              <a:rPr lang="en-US" sz="1900" dirty="0">
                <a:solidFill>
                  <a:srgbClr val="333333"/>
                </a:solidFill>
                <a:latin typeface="Arial" pitchFamily="34" charset="0"/>
                <a:ea typeface="Arial" pitchFamily="34" charset="-122"/>
                <a:cs typeface="Arial" pitchFamily="34" charset="-120"/>
              </a:rPr>
              <a:t>But can it tell two similar maps apart?</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We tested that with simulated landscapes</a:t>
            </a:r>
            <a:endParaRPr lang="en-US" sz="2800" dirty="0"/>
          </a:p>
        </p:txBody>
      </p:sp>
      <p:sp>
        <p:nvSpPr>
          <p:cNvPr id="3" name="Shape 1"/>
          <p:cNvSpPr/>
          <p:nvPr/>
        </p:nvSpPr>
        <p:spPr>
          <a:xfrm>
            <a:off x="502920" y="1051560"/>
            <a:ext cx="7589520" cy="5349240"/>
          </a:xfrm>
          <a:prstGeom prst="rect">
            <a:avLst/>
          </a:prstGeom>
          <a:solidFill>
            <a:srgbClr val="FFFFFF"/>
          </a:solidFill>
          <a:ln w="12700">
            <a:solidFill>
              <a:srgbClr val="C8C8C8"/>
            </a:solidFill>
            <a:prstDash val="dash"/>
          </a:ln>
        </p:spPr>
      </p:sp>
      <p:sp>
        <p:nvSpPr>
          <p:cNvPr id="4" name="Text 2"/>
          <p:cNvSpPr/>
          <p:nvPr/>
        </p:nvSpPr>
        <p:spPr>
          <a:xfrm>
            <a:off x="502920" y="3451860"/>
            <a:ext cx="7589520" cy="548640"/>
          </a:xfrm>
          <a:prstGeom prst="rect">
            <a:avLst/>
          </a:prstGeom>
          <a:noFill/>
          <a:ln/>
        </p:spPr>
        <p:txBody>
          <a:bodyPr wrap="square" lIns="0" tIns="0" rIns="0" bIns="0" rtlCol="0" anchor="ctr"/>
          <a:lstStyle/>
          <a:p>
            <a:pPr algn="ctr" indent="0" marL="0">
              <a:buNone/>
            </a:pPr>
            <a:r>
              <a:rPr lang="en-US" sz="1400" dirty="0">
                <a:solidFill>
                  <a:srgbClr val="8A8A8A"/>
                </a:solidFill>
                <a:latin typeface="Arial" pitchFamily="34" charset="0"/>
                <a:ea typeface="Arial" pitchFamily="34" charset="-122"/>
                <a:cs typeface="Arial" pitchFamily="34" charset="-120"/>
              </a:rPr>
              <a:t>[ pres_09_simulation_f1.png ]</a:t>
            </a:r>
            <a:endParaRPr lang="en-US" sz="1400" dirty="0"/>
          </a:p>
        </p:txBody>
      </p:sp>
      <p:sp>
        <p:nvSpPr>
          <p:cNvPr id="5" name="Text 3"/>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Truth known by construction</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Four maps, from near-perfect to badly degraded</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Full-map F1 separates them cleanly</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Sampled F1 does not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5840" y="2286000"/>
            <a:ext cx="10149840" cy="2286000"/>
          </a:xfrm>
          <a:prstGeom prst="rect">
            <a:avLst/>
          </a:prstGeom>
          <a:noFill/>
          <a:ln/>
        </p:spPr>
        <p:txBody>
          <a:bodyPr wrap="square" lIns="0" tIns="0" rIns="0" bIns="0" rtlCol="0" anchor="ctr"/>
          <a:lstStyle/>
          <a:p>
            <a:pPr indent="0" marL="0">
              <a:buNone/>
            </a:pPr>
            <a:r>
              <a:rPr lang="en-US" sz="3200" b="1" dirty="0">
                <a:solidFill>
                  <a:srgbClr val="1A1A1A"/>
                </a:solidFill>
                <a:latin typeface="Arial" pitchFamily="34" charset="0"/>
                <a:ea typeface="Arial" pitchFamily="34" charset="-122"/>
                <a:cs typeface="Arial" pitchFamily="34" charset="-120"/>
              </a:rPr>
              <a:t>Foundation models learn a general representation of a place, once, that many tasks can reuse.</a:t>
            </a:r>
            <a:endParaRPr lang="en-US" sz="3200" dirty="0"/>
          </a:p>
        </p:txBody>
      </p:sp>
      <p:sp>
        <p:nvSpPr>
          <p:cNvPr id="3" name="Text 1"/>
          <p:cNvSpPr/>
          <p:nvPr/>
        </p:nvSpPr>
        <p:spPr>
          <a:xfrm>
            <a:off x="1005840" y="4617720"/>
            <a:ext cx="10149840" cy="731520"/>
          </a:xfrm>
          <a:prstGeom prst="rect">
            <a:avLst/>
          </a:prstGeom>
          <a:noFill/>
          <a:ln/>
        </p:spPr>
        <p:txBody>
          <a:bodyPr wrap="square" lIns="0" tIns="0" rIns="0" bIns="0" rtlCol="0" anchor="ctr"/>
          <a:lstStyle/>
          <a:p>
            <a:pPr indent="0" marL="0">
              <a:buNone/>
            </a:pPr>
            <a:r>
              <a:rPr lang="en-US" sz="1900" dirty="0">
                <a:solidFill>
                  <a:srgbClr val="333333"/>
                </a:solidFill>
                <a:latin typeface="Arial" pitchFamily="34" charset="0"/>
                <a:ea typeface="Arial" pitchFamily="34" charset="-122"/>
                <a:cs typeface="Arial" pitchFamily="34" charset="-120"/>
              </a:rPr>
              <a:t>The question is whether that representation carries change.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AlphaEarth Foundations</a:t>
            </a:r>
            <a:endParaRPr lang="en-US" sz="2800" dirty="0"/>
          </a:p>
        </p:txBody>
      </p:sp>
      <p:pic>
        <p:nvPicPr>
          <p:cNvPr id="3" name="Image 0" descr="presentation/figures/pres_03_aef_schematic.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64 numbers per 10 m pixel, per year</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Only three sensors needed at inference</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Eleven sources used as training targets</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1.28 km of spatial context per pixel</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5840" y="2286000"/>
            <a:ext cx="10149840" cy="2286000"/>
          </a:xfrm>
          <a:prstGeom prst="rect">
            <a:avLst/>
          </a:prstGeom>
          <a:noFill/>
          <a:ln/>
        </p:spPr>
        <p:txBody>
          <a:bodyPr wrap="square" lIns="0" tIns="0" rIns="0" bIns="0" rtlCol="0" anchor="ctr"/>
          <a:lstStyle/>
          <a:p>
            <a:pPr indent="0" marL="0">
              <a:buNone/>
            </a:pPr>
            <a:r>
              <a:rPr lang="en-US" sz="3600" b="1" dirty="0">
                <a:solidFill>
                  <a:srgbClr val="1A1A1A"/>
                </a:solidFill>
                <a:latin typeface="Arial" pitchFamily="34" charset="0"/>
                <a:ea typeface="Arial" pitchFamily="34" charset="-122"/>
                <a:cs typeface="Arial" pitchFamily="34" charset="-120"/>
              </a:rPr>
              <a:t>AlphaEarth was designed to describe what is there.</a:t>
            </a:r>
            <a:endParaRPr lang="en-US" sz="3600" dirty="0"/>
          </a:p>
        </p:txBody>
      </p:sp>
      <p:sp>
        <p:nvSpPr>
          <p:cNvPr id="3" name="Text 1"/>
          <p:cNvSpPr/>
          <p:nvPr/>
        </p:nvSpPr>
        <p:spPr>
          <a:xfrm>
            <a:off x="1005840" y="4617720"/>
            <a:ext cx="10149840" cy="731520"/>
          </a:xfrm>
          <a:prstGeom prst="rect">
            <a:avLst/>
          </a:prstGeom>
          <a:noFill/>
          <a:ln/>
        </p:spPr>
        <p:txBody>
          <a:bodyPr wrap="square" lIns="0" tIns="0" rIns="0" bIns="0" rtlCol="0" anchor="ctr"/>
          <a:lstStyle/>
          <a:p>
            <a:pPr indent="0" marL="0">
              <a:buNone/>
            </a:pPr>
            <a:r>
              <a:rPr lang="en-US" sz="1900" dirty="0">
                <a:solidFill>
                  <a:srgbClr val="333333"/>
                </a:solidFill>
                <a:latin typeface="Arial" pitchFamily="34" charset="0"/>
                <a:ea typeface="Arial" pitchFamily="34" charset="-122"/>
                <a:cs typeface="Arial" pitchFamily="34" charset="-120"/>
              </a:rPr>
              <a:t>We need to know what changed. Those are not the same task.</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5840" y="2286000"/>
            <a:ext cx="10149840" cy="2286000"/>
          </a:xfrm>
          <a:prstGeom prst="rect">
            <a:avLst/>
          </a:prstGeom>
          <a:noFill/>
          <a:ln/>
        </p:spPr>
        <p:txBody>
          <a:bodyPr wrap="square" lIns="0" tIns="0" rIns="0" bIns="0" rtlCol="0" anchor="ctr"/>
          <a:lstStyle/>
          <a:p>
            <a:pPr indent="0" marL="0">
              <a:buNone/>
            </a:pPr>
            <a:r>
              <a:rPr lang="en-US" sz="4000" b="1" dirty="0">
                <a:solidFill>
                  <a:srgbClr val="1A1A1A"/>
                </a:solidFill>
                <a:latin typeface="Arial" pitchFamily="34" charset="0"/>
                <a:ea typeface="Arial" pitchFamily="34" charset="-122"/>
                <a:cs typeface="Arial" pitchFamily="34" charset="-120"/>
              </a:rPr>
              <a:t>Do AlphaEarth embeddings work for change attribution?</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Two questions</a:t>
            </a:r>
            <a:endParaRPr lang="en-US" sz="2800" dirty="0"/>
          </a:p>
        </p:txBody>
      </p:sp>
      <p:sp>
        <p:nvSpPr>
          <p:cNvPr id="3" name="Shape 1"/>
          <p:cNvSpPr/>
          <p:nvPr/>
        </p:nvSpPr>
        <p:spPr>
          <a:xfrm>
            <a:off x="548640" y="1371600"/>
            <a:ext cx="5408676" cy="2926080"/>
          </a:xfrm>
          <a:prstGeom prst="rect">
            <a:avLst/>
          </a:prstGeom>
          <a:solidFill>
            <a:srgbClr val="E9F1F8"/>
          </a:solidFill>
          <a:ln w="12700">
            <a:solidFill>
              <a:srgbClr val="E9F1F8"/>
            </a:solidFill>
            <a:prstDash val="solid"/>
          </a:ln>
        </p:spPr>
      </p:sp>
      <p:sp>
        <p:nvSpPr>
          <p:cNvPr id="4" name="Text 2"/>
          <p:cNvSpPr/>
          <p:nvPr/>
        </p:nvSpPr>
        <p:spPr>
          <a:xfrm>
            <a:off x="749808" y="1536192"/>
            <a:ext cx="5006340" cy="384048"/>
          </a:xfrm>
          <a:prstGeom prst="rect">
            <a:avLst/>
          </a:prstGeom>
          <a:noFill/>
          <a:ln/>
        </p:spPr>
        <p:txBody>
          <a:bodyPr wrap="square" lIns="0" tIns="0" rIns="0" bIns="0" rtlCol="0" anchor="ctr"/>
          <a:lstStyle/>
          <a:p>
            <a:pPr indent="0" marL="0">
              <a:buNone/>
            </a:pPr>
            <a:r>
              <a:rPr lang="en-US" sz="2200" b="1" dirty="0">
                <a:solidFill>
                  <a:srgbClr val="1F6FB2"/>
                </a:solidFill>
                <a:latin typeface="Arial" pitchFamily="34" charset="0"/>
                <a:ea typeface="Arial" pitchFamily="34" charset="-122"/>
                <a:cs typeface="Arial" pitchFamily="34" charset="-120"/>
              </a:rPr>
              <a:t>1. How do we structure them?</a:t>
            </a:r>
            <a:endParaRPr lang="en-US" sz="2200" dirty="0"/>
          </a:p>
        </p:txBody>
      </p:sp>
      <p:sp>
        <p:nvSpPr>
          <p:cNvPr id="5" name="Text 3"/>
          <p:cNvSpPr/>
          <p:nvPr/>
        </p:nvSpPr>
        <p:spPr>
          <a:xfrm>
            <a:off x="749808" y="1993392"/>
            <a:ext cx="5006340" cy="2121408"/>
          </a:xfrm>
          <a:prstGeom prst="rect">
            <a:avLst/>
          </a:prstGeom>
          <a:noFill/>
          <a:ln/>
        </p:spPr>
        <p:txBody>
          <a:bodyPr wrap="square" lIns="0" tIns="0" rIns="0" bIns="0" rtlCol="0" anchor="t"/>
          <a:lstStyle/>
          <a:p>
            <a:pPr indent="0" marL="0">
              <a:lnSpc>
                <a:spcPts val="2000"/>
              </a:lnSpc>
              <a:buNone/>
            </a:pPr>
            <a:r>
              <a:rPr lang="en-US" sz="1700" dirty="0">
                <a:solidFill>
                  <a:srgbClr val="333333"/>
                </a:solidFill>
                <a:latin typeface="Arial" pitchFamily="34" charset="0"/>
                <a:ea typeface="Arial" pitchFamily="34" charset="-122"/>
                <a:cs typeface="Arial" pitchFamily="34" charset="-120"/>
              </a:rPr>
              <a:t>An embedding describes one year. Change has to be built from two. Which construction preserves what we need?</a:t>
            </a:r>
            <a:endParaRPr lang="en-US" sz="1700" dirty="0"/>
          </a:p>
        </p:txBody>
      </p:sp>
      <p:sp>
        <p:nvSpPr>
          <p:cNvPr id="6" name="Shape 4"/>
          <p:cNvSpPr/>
          <p:nvPr/>
        </p:nvSpPr>
        <p:spPr>
          <a:xfrm>
            <a:off x="6231636" y="1371600"/>
            <a:ext cx="5408676" cy="2926080"/>
          </a:xfrm>
          <a:prstGeom prst="rect">
            <a:avLst/>
          </a:prstGeom>
          <a:solidFill>
            <a:srgbClr val="FBEEE4"/>
          </a:solidFill>
          <a:ln w="12700">
            <a:solidFill>
              <a:srgbClr val="FBEEE4"/>
            </a:solidFill>
            <a:prstDash val="solid"/>
          </a:ln>
        </p:spPr>
      </p:sp>
      <p:sp>
        <p:nvSpPr>
          <p:cNvPr id="7" name="Text 5"/>
          <p:cNvSpPr/>
          <p:nvPr/>
        </p:nvSpPr>
        <p:spPr>
          <a:xfrm>
            <a:off x="6432804" y="1536192"/>
            <a:ext cx="5006340" cy="384048"/>
          </a:xfrm>
          <a:prstGeom prst="rect">
            <a:avLst/>
          </a:prstGeom>
          <a:noFill/>
          <a:ln/>
        </p:spPr>
        <p:txBody>
          <a:bodyPr wrap="square" lIns="0" tIns="0" rIns="0" bIns="0" rtlCol="0" anchor="ctr"/>
          <a:lstStyle/>
          <a:p>
            <a:pPr indent="0" marL="0">
              <a:buNone/>
            </a:pPr>
            <a:r>
              <a:rPr lang="en-US" sz="2200" b="1" dirty="0">
                <a:solidFill>
                  <a:srgbClr val="C05621"/>
                </a:solidFill>
                <a:latin typeface="Arial" pitchFamily="34" charset="0"/>
                <a:ea typeface="Arial" pitchFamily="34" charset="-122"/>
                <a:cs typeface="Arial" pitchFamily="34" charset="-120"/>
              </a:rPr>
              <a:t>2. How do we tell the maps apart?</a:t>
            </a:r>
            <a:endParaRPr lang="en-US" sz="2200" dirty="0"/>
          </a:p>
        </p:txBody>
      </p:sp>
      <p:sp>
        <p:nvSpPr>
          <p:cNvPr id="8" name="Text 6"/>
          <p:cNvSpPr/>
          <p:nvPr/>
        </p:nvSpPr>
        <p:spPr>
          <a:xfrm>
            <a:off x="6432804" y="1993392"/>
            <a:ext cx="5006340" cy="2121408"/>
          </a:xfrm>
          <a:prstGeom prst="rect">
            <a:avLst/>
          </a:prstGeom>
          <a:noFill/>
          <a:ln/>
        </p:spPr>
        <p:txBody>
          <a:bodyPr wrap="square" lIns="0" tIns="0" rIns="0" bIns="0" rtlCol="0" anchor="t"/>
          <a:lstStyle/>
          <a:p>
            <a:pPr indent="0" marL="0">
              <a:lnSpc>
                <a:spcPts val="2000"/>
              </a:lnSpc>
              <a:buNone/>
            </a:pPr>
            <a:r>
              <a:rPr lang="en-US" sz="1700" dirty="0">
                <a:solidFill>
                  <a:srgbClr val="333333"/>
                </a:solidFill>
                <a:latin typeface="Arial" pitchFamily="34" charset="0"/>
                <a:ea typeface="Arial" pitchFamily="34" charset="-122"/>
                <a:cs typeface="Arial" pitchFamily="34" charset="-120"/>
              </a:rPr>
              <a:t>If several configurations score about the same, how do we decide which one is actually better?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697480"/>
            <a:ext cx="10515600" cy="365760"/>
          </a:xfrm>
          <a:prstGeom prst="rect">
            <a:avLst/>
          </a:prstGeom>
          <a:noFill/>
          <a:ln/>
        </p:spPr>
        <p:txBody>
          <a:bodyPr wrap="square" lIns="0" tIns="0" rIns="0" bIns="0" rtlCol="0" anchor="ctr"/>
          <a:lstStyle/>
          <a:p>
            <a:pPr indent="0" marL="0">
              <a:buNone/>
            </a:pPr>
            <a:r>
              <a:rPr lang="en-US" sz="1600" dirty="0">
                <a:solidFill>
                  <a:srgbClr val="8A8A8A"/>
                </a:solidFill>
                <a:latin typeface="Arial" pitchFamily="34" charset="0"/>
                <a:ea typeface="Arial" pitchFamily="34" charset="-122"/>
                <a:cs typeface="Arial" pitchFamily="34" charset="-120"/>
              </a:rPr>
              <a:t>Testing it</a:t>
            </a:r>
            <a:endParaRPr lang="en-US" sz="1600" dirty="0"/>
          </a:p>
        </p:txBody>
      </p:sp>
      <p:sp>
        <p:nvSpPr>
          <p:cNvPr id="3" name="Text 1"/>
          <p:cNvSpPr/>
          <p:nvPr/>
        </p:nvSpPr>
        <p:spPr>
          <a:xfrm>
            <a:off x="822960" y="3108960"/>
            <a:ext cx="10515600" cy="1005840"/>
          </a:xfrm>
          <a:prstGeom prst="rect">
            <a:avLst/>
          </a:prstGeom>
          <a:noFill/>
          <a:ln/>
        </p:spPr>
        <p:txBody>
          <a:bodyPr wrap="square" lIns="0" tIns="0" rIns="0" bIns="0" rtlCol="0" anchor="ctr"/>
          <a:lstStyle/>
          <a:p>
            <a:pPr indent="0" marL="0">
              <a:buNone/>
            </a:pPr>
            <a:r>
              <a:rPr lang="en-US" sz="3200" b="1" dirty="0">
                <a:solidFill>
                  <a:srgbClr val="1A1A1A"/>
                </a:solidFill>
                <a:latin typeface="Arial" pitchFamily="34" charset="0"/>
                <a:ea typeface="Arial" pitchFamily="34" charset="-122"/>
                <a:cs typeface="Arial" pitchFamily="34" charset="-120"/>
              </a:rPr>
              <a:t>What the test requires</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5840" y="2286000"/>
            <a:ext cx="10149840" cy="2286000"/>
          </a:xfrm>
          <a:prstGeom prst="rect">
            <a:avLst/>
          </a:prstGeom>
          <a:noFill/>
          <a:ln/>
        </p:spPr>
        <p:txBody>
          <a:bodyPr wrap="square" lIns="0" tIns="0" rIns="0" bIns="0" rtlCol="0" anchor="ctr"/>
          <a:lstStyle/>
          <a:p>
            <a:pPr indent="0" marL="0">
              <a:buNone/>
            </a:pPr>
            <a:r>
              <a:rPr lang="en-US" sz="3600" b="1" dirty="0">
                <a:solidFill>
                  <a:srgbClr val="1A1A1A"/>
                </a:solidFill>
                <a:latin typeface="Arial" pitchFamily="34" charset="0"/>
                <a:ea typeface="Arial" pitchFamily="34" charset="-122"/>
                <a:cs typeface="Arial" pitchFamily="34" charset="-120"/>
              </a:rPr>
              <a:t>To answer this we need a lot of labeled change.</a:t>
            </a:r>
            <a:endParaRPr lang="en-US" sz="3600" dirty="0"/>
          </a:p>
        </p:txBody>
      </p:sp>
      <p:sp>
        <p:nvSpPr>
          <p:cNvPr id="3" name="Text 1"/>
          <p:cNvSpPr/>
          <p:nvPr/>
        </p:nvSpPr>
        <p:spPr>
          <a:xfrm>
            <a:off x="1005840" y="4617720"/>
            <a:ext cx="10149840" cy="731520"/>
          </a:xfrm>
          <a:prstGeom prst="rect">
            <a:avLst/>
          </a:prstGeom>
          <a:noFill/>
          <a:ln/>
        </p:spPr>
        <p:txBody>
          <a:bodyPr wrap="square" lIns="0" tIns="0" rIns="0" bIns="0" rtlCol="0" anchor="ctr"/>
          <a:lstStyle/>
          <a:p>
            <a:pPr indent="0" marL="0">
              <a:buNone/>
            </a:pPr>
            <a:r>
              <a:rPr lang="en-US" sz="1900" dirty="0">
                <a:solidFill>
                  <a:srgbClr val="333333"/>
                </a:solidFill>
                <a:latin typeface="Arial" pitchFamily="34" charset="0"/>
                <a:ea typeface="Arial" pitchFamily="34" charset="-122"/>
                <a:cs typeface="Arial" pitchFamily="34" charset="-120"/>
              </a:rPr>
              <a:t>The National Park Service Great Lakes Network has been mapping it for over a decade.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Workflow</a:t>
            </a:r>
            <a:endParaRPr lang="en-US" sz="2800" dirty="0"/>
          </a:p>
        </p:txBody>
      </p:sp>
      <p:pic>
        <p:nvPicPr>
          <p:cNvPr id="3" name="Image 0" descr="presentation/figures/pres_11_workflow_simple.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How we built the reference</a:t>
            </a:r>
            <a:endParaRPr lang="en-US" sz="2800" dirty="0"/>
          </a:p>
        </p:txBody>
      </p:sp>
      <p:pic>
        <p:nvPicPr>
          <p:cNvPr id="3" name="Image 0" descr="presentation/figures/pres_04_ckit_interface.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Interpreter views NAIP at both dates</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Places labeled points inside the cell</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A within-cell model labels every pixel</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180 cells, 72 done twice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Change is rare</a:t>
            </a:r>
            <a:endParaRPr lang="en-US" sz="2800" dirty="0"/>
          </a:p>
        </p:txBody>
      </p:sp>
      <p:pic>
        <p:nvPicPr>
          <p:cNvPr id="3" name="Image 0" descr="presentation/figures/pres_02_rarity.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Change is about 1.6% of interpreted pixels</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Harvest dominates what change there is</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Beaver and insect or disease are a rounding error</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Why this is hard</a:t>
            </a:r>
            <a:endParaRPr lang="en-US" sz="2800" dirty="0"/>
          </a:p>
        </p:txBody>
      </p:sp>
      <p:sp>
        <p:nvSpPr>
          <p:cNvPr id="3" name="Shape 1"/>
          <p:cNvSpPr/>
          <p:nvPr/>
        </p:nvSpPr>
        <p:spPr>
          <a:xfrm>
            <a:off x="548640" y="1371600"/>
            <a:ext cx="3514344" cy="2743200"/>
          </a:xfrm>
          <a:prstGeom prst="rect">
            <a:avLst/>
          </a:prstGeom>
          <a:solidFill>
            <a:srgbClr val="F2F2F2"/>
          </a:solidFill>
          <a:ln w="12700">
            <a:solidFill>
              <a:srgbClr val="F2F2F2"/>
            </a:solidFill>
            <a:prstDash val="solid"/>
          </a:ln>
        </p:spPr>
      </p:sp>
      <p:sp>
        <p:nvSpPr>
          <p:cNvPr id="4" name="Text 2"/>
          <p:cNvSpPr/>
          <p:nvPr/>
        </p:nvSpPr>
        <p:spPr>
          <a:xfrm>
            <a:off x="749808" y="1536192"/>
            <a:ext cx="3112008" cy="384048"/>
          </a:xfrm>
          <a:prstGeom prst="rect">
            <a:avLst/>
          </a:prstGeom>
          <a:noFill/>
          <a:ln/>
        </p:spPr>
        <p:txBody>
          <a:bodyPr wrap="square" lIns="0" tIns="0" rIns="0" bIns="0" rtlCol="0" anchor="ctr"/>
          <a:lstStyle/>
          <a:p>
            <a:pPr indent="0" marL="0">
              <a:buNone/>
            </a:pPr>
            <a:r>
              <a:rPr lang="en-US" sz="2100" b="1" dirty="0">
                <a:solidFill>
                  <a:srgbClr val="5A5A5A"/>
                </a:solidFill>
                <a:latin typeface="Arial" pitchFamily="34" charset="0"/>
                <a:ea typeface="Arial" pitchFamily="34" charset="-122"/>
                <a:cs typeface="Arial" pitchFamily="34" charset="-120"/>
              </a:rPr>
              <a:t>Rare</a:t>
            </a:r>
            <a:endParaRPr lang="en-US" sz="2100" dirty="0"/>
          </a:p>
        </p:txBody>
      </p:sp>
      <p:sp>
        <p:nvSpPr>
          <p:cNvPr id="5" name="Text 3"/>
          <p:cNvSpPr/>
          <p:nvPr/>
        </p:nvSpPr>
        <p:spPr>
          <a:xfrm>
            <a:off x="749808" y="1993392"/>
            <a:ext cx="3112008" cy="1938528"/>
          </a:xfrm>
          <a:prstGeom prst="rect">
            <a:avLst/>
          </a:prstGeom>
          <a:noFill/>
          <a:ln/>
        </p:spPr>
        <p:txBody>
          <a:bodyPr wrap="square" lIns="0" tIns="0" rIns="0" bIns="0" rtlCol="0" anchor="t"/>
          <a:lstStyle/>
          <a:p>
            <a:pPr indent="0" marL="0">
              <a:lnSpc>
                <a:spcPts val="2000"/>
              </a:lnSpc>
              <a:buNone/>
            </a:pPr>
            <a:r>
              <a:rPr lang="en-US" sz="1600" dirty="0">
                <a:solidFill>
                  <a:srgbClr val="333333"/>
                </a:solidFill>
                <a:latin typeface="Arial" pitchFamily="34" charset="0"/>
                <a:ea typeface="Arial" pitchFamily="34" charset="-122"/>
                <a:cs typeface="Arial" pitchFamily="34" charset="-120"/>
              </a:rPr>
              <a:t>1.6% of pixels, and the agents differ by orders of magnitude</a:t>
            </a:r>
            <a:endParaRPr lang="en-US" sz="1600" dirty="0"/>
          </a:p>
        </p:txBody>
      </p:sp>
      <p:sp>
        <p:nvSpPr>
          <p:cNvPr id="6" name="Shape 4"/>
          <p:cNvSpPr/>
          <p:nvPr/>
        </p:nvSpPr>
        <p:spPr>
          <a:xfrm>
            <a:off x="4337304" y="1371600"/>
            <a:ext cx="3514344" cy="2743200"/>
          </a:xfrm>
          <a:prstGeom prst="rect">
            <a:avLst/>
          </a:prstGeom>
          <a:solidFill>
            <a:srgbClr val="F2F2F2"/>
          </a:solidFill>
          <a:ln w="12700">
            <a:solidFill>
              <a:srgbClr val="F2F2F2"/>
            </a:solidFill>
            <a:prstDash val="solid"/>
          </a:ln>
        </p:spPr>
      </p:sp>
      <p:sp>
        <p:nvSpPr>
          <p:cNvPr id="7" name="Text 5"/>
          <p:cNvSpPr/>
          <p:nvPr/>
        </p:nvSpPr>
        <p:spPr>
          <a:xfrm>
            <a:off x="4538472" y="1536192"/>
            <a:ext cx="3112008" cy="384048"/>
          </a:xfrm>
          <a:prstGeom prst="rect">
            <a:avLst/>
          </a:prstGeom>
          <a:noFill/>
          <a:ln/>
        </p:spPr>
        <p:txBody>
          <a:bodyPr wrap="square" lIns="0" tIns="0" rIns="0" bIns="0" rtlCol="0" anchor="ctr"/>
          <a:lstStyle/>
          <a:p>
            <a:pPr indent="0" marL="0">
              <a:buNone/>
            </a:pPr>
            <a:r>
              <a:rPr lang="en-US" sz="2100" b="1" dirty="0">
                <a:solidFill>
                  <a:srgbClr val="5A5A5A"/>
                </a:solidFill>
                <a:latin typeface="Arial" pitchFamily="34" charset="0"/>
                <a:ea typeface="Arial" pitchFamily="34" charset="-122"/>
                <a:cs typeface="Arial" pitchFamily="34" charset="-120"/>
              </a:rPr>
              <a:t>Spatially clustered</a:t>
            </a:r>
            <a:endParaRPr lang="en-US" sz="2100" dirty="0"/>
          </a:p>
        </p:txBody>
      </p:sp>
      <p:sp>
        <p:nvSpPr>
          <p:cNvPr id="8" name="Text 6"/>
          <p:cNvSpPr/>
          <p:nvPr/>
        </p:nvSpPr>
        <p:spPr>
          <a:xfrm>
            <a:off x="4538472" y="1993392"/>
            <a:ext cx="3112008" cy="1938528"/>
          </a:xfrm>
          <a:prstGeom prst="rect">
            <a:avLst/>
          </a:prstGeom>
          <a:noFill/>
          <a:ln/>
        </p:spPr>
        <p:txBody>
          <a:bodyPr wrap="square" lIns="0" tIns="0" rIns="0" bIns="0" rtlCol="0" anchor="t"/>
          <a:lstStyle/>
          <a:p>
            <a:pPr indent="0" marL="0">
              <a:lnSpc>
                <a:spcPts val="2000"/>
              </a:lnSpc>
              <a:buNone/>
            </a:pPr>
            <a:r>
              <a:rPr lang="en-US" sz="1600" dirty="0">
                <a:solidFill>
                  <a:srgbClr val="333333"/>
                </a:solidFill>
                <a:latin typeface="Arial" pitchFamily="34" charset="0"/>
                <a:ea typeface="Arial" pitchFamily="34" charset="-122"/>
                <a:cs typeface="Arial" pitchFamily="34" charset="-120"/>
              </a:rPr>
              <a:t>Change happens in patches, so nearby pixels repeat information</a:t>
            </a:r>
            <a:endParaRPr lang="en-US" sz="1600" dirty="0"/>
          </a:p>
        </p:txBody>
      </p:sp>
      <p:sp>
        <p:nvSpPr>
          <p:cNvPr id="9" name="Shape 7"/>
          <p:cNvSpPr/>
          <p:nvPr/>
        </p:nvSpPr>
        <p:spPr>
          <a:xfrm>
            <a:off x="8125968" y="1371600"/>
            <a:ext cx="3514344" cy="2743200"/>
          </a:xfrm>
          <a:prstGeom prst="rect">
            <a:avLst/>
          </a:prstGeom>
          <a:solidFill>
            <a:srgbClr val="F2F2F2"/>
          </a:solidFill>
          <a:ln w="12700">
            <a:solidFill>
              <a:srgbClr val="F2F2F2"/>
            </a:solidFill>
            <a:prstDash val="solid"/>
          </a:ln>
        </p:spPr>
      </p:sp>
      <p:sp>
        <p:nvSpPr>
          <p:cNvPr id="10" name="Text 8"/>
          <p:cNvSpPr/>
          <p:nvPr/>
        </p:nvSpPr>
        <p:spPr>
          <a:xfrm>
            <a:off x="8327136" y="1536192"/>
            <a:ext cx="3112008" cy="384048"/>
          </a:xfrm>
          <a:prstGeom prst="rect">
            <a:avLst/>
          </a:prstGeom>
          <a:noFill/>
          <a:ln/>
        </p:spPr>
        <p:txBody>
          <a:bodyPr wrap="square" lIns="0" tIns="0" rIns="0" bIns="0" rtlCol="0" anchor="ctr"/>
          <a:lstStyle/>
          <a:p>
            <a:pPr indent="0" marL="0">
              <a:buNone/>
            </a:pPr>
            <a:r>
              <a:rPr lang="en-US" sz="2100" b="1" dirty="0">
                <a:solidFill>
                  <a:srgbClr val="5A5A5A"/>
                </a:solidFill>
                <a:latin typeface="Arial" pitchFamily="34" charset="0"/>
                <a:ea typeface="Arial" pitchFamily="34" charset="-122"/>
                <a:cs typeface="Arial" pitchFamily="34" charset="-120"/>
              </a:rPr>
              <a:t>Conceptually ambiguous</a:t>
            </a:r>
            <a:endParaRPr lang="en-US" sz="2100" dirty="0"/>
          </a:p>
        </p:txBody>
      </p:sp>
      <p:sp>
        <p:nvSpPr>
          <p:cNvPr id="11" name="Text 9"/>
          <p:cNvSpPr/>
          <p:nvPr/>
        </p:nvSpPr>
        <p:spPr>
          <a:xfrm>
            <a:off x="8327136" y="1993392"/>
            <a:ext cx="3112008" cy="1938528"/>
          </a:xfrm>
          <a:prstGeom prst="rect">
            <a:avLst/>
          </a:prstGeom>
          <a:noFill/>
          <a:ln/>
        </p:spPr>
        <p:txBody>
          <a:bodyPr wrap="square" lIns="0" tIns="0" rIns="0" bIns="0" rtlCol="0" anchor="t"/>
          <a:lstStyle/>
          <a:p>
            <a:pPr indent="0" marL="0">
              <a:lnSpc>
                <a:spcPts val="2000"/>
              </a:lnSpc>
              <a:buNone/>
            </a:pPr>
            <a:r>
              <a:rPr lang="en-US" sz="1600" dirty="0">
                <a:solidFill>
                  <a:srgbClr val="333333"/>
                </a:solidFill>
                <a:latin typeface="Arial" pitchFamily="34" charset="0"/>
                <a:ea typeface="Arial" pitchFamily="34" charset="-122"/>
                <a:cs typeface="Arial" pitchFamily="34" charset="-120"/>
              </a:rPr>
              <a:t>Trained interpreters looking at the same ground disagree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Building change from two years</a:t>
            </a:r>
            <a:endParaRPr lang="en-US" sz="2800" dirty="0"/>
          </a:p>
        </p:txBody>
      </p:sp>
      <p:sp>
        <p:nvSpPr>
          <p:cNvPr id="3" name="Shape 1"/>
          <p:cNvSpPr/>
          <p:nvPr/>
        </p:nvSpPr>
        <p:spPr>
          <a:xfrm>
            <a:off x="685800" y="1051560"/>
            <a:ext cx="10817352" cy="5486400"/>
          </a:xfrm>
          <a:prstGeom prst="rect">
            <a:avLst/>
          </a:prstGeom>
          <a:solidFill>
            <a:srgbClr val="FFFFFF"/>
          </a:solidFill>
          <a:ln w="12700">
            <a:solidFill>
              <a:srgbClr val="C8C8C8"/>
            </a:solidFill>
            <a:prstDash val="dash"/>
          </a:ln>
        </p:spPr>
      </p:sp>
      <p:sp>
        <p:nvSpPr>
          <p:cNvPr id="4" name="Text 2"/>
          <p:cNvSpPr/>
          <p:nvPr/>
        </p:nvSpPr>
        <p:spPr>
          <a:xfrm>
            <a:off x="685800" y="3520440"/>
            <a:ext cx="10817352" cy="548640"/>
          </a:xfrm>
          <a:prstGeom prst="rect">
            <a:avLst/>
          </a:prstGeom>
          <a:noFill/>
          <a:ln/>
        </p:spPr>
        <p:txBody>
          <a:bodyPr wrap="square" lIns="0" tIns="0" rIns="0" bIns="0" rtlCol="0" anchor="ctr"/>
          <a:lstStyle/>
          <a:p>
            <a:pPr algn="ctr" indent="0" marL="0">
              <a:buNone/>
            </a:pPr>
            <a:r>
              <a:rPr lang="en-US" sz="1400" dirty="0">
                <a:solidFill>
                  <a:srgbClr val="8A8A8A"/>
                </a:solidFill>
                <a:latin typeface="Arial" pitchFamily="34" charset="0"/>
                <a:ea typeface="Arial" pitchFamily="34" charset="-122"/>
                <a:cs typeface="Arial" pitchFamily="34" charset="-120"/>
              </a:rPr>
              <a:t>[ pres_15_embedding_ops.png ]</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Five configurations</a:t>
            </a:r>
            <a:endParaRPr lang="en-US" sz="2800" dirty="0"/>
          </a:p>
        </p:txBody>
      </p:sp>
      <p:pic>
        <p:nvPicPr>
          <p:cNvPr id="3" name="Image 0" descr="thesis_materials/figures/fig_2_3_embedding_configs.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The benchmark: spectral composites</a:t>
            </a:r>
            <a:endParaRPr lang="en-US" sz="2800" dirty="0"/>
          </a:p>
        </p:txBody>
      </p:sp>
      <p:sp>
        <p:nvSpPr>
          <p:cNvPr id="3" name="Shape 1"/>
          <p:cNvSpPr/>
          <p:nvPr/>
        </p:nvSpPr>
        <p:spPr>
          <a:xfrm>
            <a:off x="502920" y="1051560"/>
            <a:ext cx="7589520" cy="5349240"/>
          </a:xfrm>
          <a:prstGeom prst="rect">
            <a:avLst/>
          </a:prstGeom>
          <a:solidFill>
            <a:srgbClr val="FFFFFF"/>
          </a:solidFill>
          <a:ln w="12700">
            <a:solidFill>
              <a:srgbClr val="C8C8C8"/>
            </a:solidFill>
            <a:prstDash val="dash"/>
          </a:ln>
        </p:spPr>
      </p:sp>
      <p:sp>
        <p:nvSpPr>
          <p:cNvPr id="4" name="Text 2"/>
          <p:cNvSpPr/>
          <p:nvPr/>
        </p:nvSpPr>
        <p:spPr>
          <a:xfrm>
            <a:off x="502920" y="3451860"/>
            <a:ext cx="7589520" cy="548640"/>
          </a:xfrm>
          <a:prstGeom prst="rect">
            <a:avLst/>
          </a:prstGeom>
          <a:noFill/>
          <a:ln/>
        </p:spPr>
        <p:txBody>
          <a:bodyPr wrap="square" lIns="0" tIns="0" rIns="0" bIns="0" rtlCol="0" anchor="ctr"/>
          <a:lstStyle/>
          <a:p>
            <a:pPr algn="ctr" indent="0" marL="0">
              <a:buNone/>
            </a:pPr>
            <a:r>
              <a:rPr lang="en-US" sz="1400" dirty="0">
                <a:solidFill>
                  <a:srgbClr val="8A8A8A"/>
                </a:solidFill>
                <a:latin typeface="Arial" pitchFamily="34" charset="0"/>
                <a:ea typeface="Arial" pitchFamily="34" charset="-122"/>
                <a:cs typeface="Arial" pitchFamily="34" charset="-120"/>
              </a:rPr>
              <a:t>[ pres_16_spectral_baseline.png ]</a:t>
            </a:r>
            <a:endParaRPr lang="en-US" sz="1400" dirty="0"/>
          </a:p>
        </p:txBody>
      </p:sp>
      <p:sp>
        <p:nvSpPr>
          <p:cNvPr id="5" name="Text 3"/>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Sentinel-2, Landsat 8, Sentinel-1</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Roughly 50 bands</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Exactly the sensors AlphaEarth uses at inference</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Same information, different representation</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Reporting on five classes</a:t>
            </a:r>
            <a:endParaRPr lang="en-US" sz="2800" dirty="0"/>
          </a:p>
        </p:txBody>
      </p:sp>
      <p:sp>
        <p:nvSpPr>
          <p:cNvPr id="3" name="Text 1"/>
          <p:cNvSpPr/>
          <p:nvPr/>
        </p:nvSpPr>
        <p:spPr>
          <a:xfrm>
            <a:off x="548640" y="1051560"/>
            <a:ext cx="11064240" cy="457200"/>
          </a:xfrm>
          <a:prstGeom prst="rect">
            <a:avLst/>
          </a:prstGeom>
          <a:noFill/>
          <a:ln/>
        </p:spPr>
        <p:txBody>
          <a:bodyPr wrap="square" lIns="0" tIns="0" rIns="0" bIns="0" rtlCol="0" anchor="ctr"/>
          <a:lstStyle/>
          <a:p>
            <a:pPr indent="0" marL="0">
              <a:buNone/>
            </a:pPr>
            <a:r>
              <a:rPr lang="en-US" sz="1900" dirty="0">
                <a:solidFill>
                  <a:srgbClr val="333333"/>
                </a:solidFill>
                <a:latin typeface="Arial" pitchFamily="34" charset="0"/>
                <a:ea typeface="Arial" pitchFamily="34" charset="-122"/>
                <a:cs typeface="Arial" pitchFamily="34" charset="-120"/>
              </a:rPr>
              <a:t>We care which agent caused the change, not which stable class was confused for another.</a:t>
            </a:r>
            <a:endParaRPr lang="en-US" sz="1900" dirty="0"/>
          </a:p>
        </p:txBody>
      </p:sp>
      <p:sp>
        <p:nvSpPr>
          <p:cNvPr id="4" name="Shape 2"/>
          <p:cNvSpPr/>
          <p:nvPr/>
        </p:nvSpPr>
        <p:spPr>
          <a:xfrm>
            <a:off x="548640" y="1828800"/>
            <a:ext cx="1998878" cy="1051560"/>
          </a:xfrm>
          <a:prstGeom prst="rect">
            <a:avLst/>
          </a:prstGeom>
          <a:solidFill>
            <a:srgbClr val="F2F2F2"/>
          </a:solidFill>
          <a:ln w="12700">
            <a:solidFill>
              <a:srgbClr val="F2F2F2"/>
            </a:solidFill>
            <a:prstDash val="solid"/>
          </a:ln>
        </p:spPr>
      </p:sp>
      <p:sp>
        <p:nvSpPr>
          <p:cNvPr id="5" name="Text 3"/>
          <p:cNvSpPr/>
          <p:nvPr/>
        </p:nvSpPr>
        <p:spPr>
          <a:xfrm>
            <a:off x="749808" y="1993392"/>
            <a:ext cx="1596542" cy="384048"/>
          </a:xfrm>
          <a:prstGeom prst="rect">
            <a:avLst/>
          </a:prstGeom>
          <a:noFill/>
          <a:ln/>
        </p:spPr>
        <p:txBody>
          <a:bodyPr wrap="square" lIns="0" tIns="0" rIns="0" bIns="0" rtlCol="0" anchor="ctr"/>
          <a:lstStyle/>
          <a:p>
            <a:pPr indent="0" marL="0">
              <a:buNone/>
            </a:pPr>
            <a:r>
              <a:rPr lang="en-US" sz="1600" b="1" dirty="0">
                <a:solidFill>
                  <a:srgbClr val="5A5A5A"/>
                </a:solidFill>
                <a:latin typeface="Arial" pitchFamily="34" charset="0"/>
                <a:ea typeface="Arial" pitchFamily="34" charset="-122"/>
                <a:cs typeface="Arial" pitchFamily="34" charset="-120"/>
              </a:rPr>
              <a:t>Stable</a:t>
            </a:r>
            <a:endParaRPr lang="en-US" sz="1600" dirty="0"/>
          </a:p>
        </p:txBody>
      </p:sp>
      <p:sp>
        <p:nvSpPr>
          <p:cNvPr id="6" name="Text 4"/>
          <p:cNvSpPr/>
          <p:nvPr/>
        </p:nvSpPr>
        <p:spPr>
          <a:xfrm>
            <a:off x="749808" y="2450592"/>
            <a:ext cx="1596542" cy="246888"/>
          </a:xfrm>
          <a:prstGeom prst="rect">
            <a:avLst/>
          </a:prstGeom>
          <a:noFill/>
          <a:ln/>
        </p:spPr>
        <p:txBody>
          <a:bodyPr wrap="square" lIns="0" tIns="0" rIns="0" bIns="0" rtlCol="0" anchor="t"/>
          <a:lstStyle/>
          <a:p>
            <a:pPr indent="0" marL="0">
              <a:lnSpc>
                <a:spcPts val="2000"/>
              </a:lnSpc>
              <a:buNone/>
            </a:pPr>
            <a:r>
              <a:rPr lang="en-US" sz="1300" dirty="0">
                <a:solidFill>
                  <a:srgbClr val="333333"/>
                </a:solidFill>
                <a:latin typeface="Arial" pitchFamily="34" charset="0"/>
                <a:ea typeface="Arial" pitchFamily="34" charset="-122"/>
                <a:cs typeface="Arial" pitchFamily="34" charset="-120"/>
              </a:rPr>
              <a:t>All six stable classes collapsed into one</a:t>
            </a:r>
            <a:endParaRPr lang="en-US" sz="1300" dirty="0"/>
          </a:p>
        </p:txBody>
      </p:sp>
      <p:sp>
        <p:nvSpPr>
          <p:cNvPr id="7" name="Shape 5"/>
          <p:cNvSpPr/>
          <p:nvPr/>
        </p:nvSpPr>
        <p:spPr>
          <a:xfrm>
            <a:off x="2821838" y="1828800"/>
            <a:ext cx="1998878" cy="1051560"/>
          </a:xfrm>
          <a:prstGeom prst="rect">
            <a:avLst/>
          </a:prstGeom>
          <a:solidFill>
            <a:srgbClr val="FBEEE4"/>
          </a:solidFill>
          <a:ln w="12700">
            <a:solidFill>
              <a:srgbClr val="FBEEE4"/>
            </a:solidFill>
            <a:prstDash val="solid"/>
          </a:ln>
        </p:spPr>
      </p:sp>
      <p:sp>
        <p:nvSpPr>
          <p:cNvPr id="8" name="Text 6"/>
          <p:cNvSpPr/>
          <p:nvPr/>
        </p:nvSpPr>
        <p:spPr>
          <a:xfrm>
            <a:off x="3023006" y="1993392"/>
            <a:ext cx="1596542" cy="384048"/>
          </a:xfrm>
          <a:prstGeom prst="rect">
            <a:avLst/>
          </a:prstGeom>
          <a:noFill/>
          <a:ln/>
        </p:spPr>
        <p:txBody>
          <a:bodyPr wrap="square" lIns="0" tIns="0" rIns="0" bIns="0" rtlCol="0" anchor="ctr"/>
          <a:lstStyle/>
          <a:p>
            <a:pPr indent="0" marL="0">
              <a:buNone/>
            </a:pPr>
            <a:r>
              <a:rPr lang="en-US" sz="1600" b="1" dirty="0">
                <a:solidFill>
                  <a:srgbClr val="C05621"/>
                </a:solidFill>
                <a:latin typeface="Arial" pitchFamily="34" charset="0"/>
                <a:ea typeface="Arial" pitchFamily="34" charset="-122"/>
                <a:cs typeface="Arial" pitchFamily="34" charset="-120"/>
              </a:rPr>
              <a:t>Harvest</a:t>
            </a:r>
            <a:endParaRPr lang="en-US" sz="1600" dirty="0"/>
          </a:p>
        </p:txBody>
      </p:sp>
      <p:sp>
        <p:nvSpPr>
          <p:cNvPr id="9" name="Shape 7"/>
          <p:cNvSpPr/>
          <p:nvPr/>
        </p:nvSpPr>
        <p:spPr>
          <a:xfrm>
            <a:off x="5095037" y="1828800"/>
            <a:ext cx="1998878" cy="1051560"/>
          </a:xfrm>
          <a:prstGeom prst="rect">
            <a:avLst/>
          </a:prstGeom>
          <a:solidFill>
            <a:srgbClr val="FBEEE4"/>
          </a:solidFill>
          <a:ln w="12700">
            <a:solidFill>
              <a:srgbClr val="FBEEE4"/>
            </a:solidFill>
            <a:prstDash val="solid"/>
          </a:ln>
        </p:spPr>
      </p:sp>
      <p:sp>
        <p:nvSpPr>
          <p:cNvPr id="10" name="Text 8"/>
          <p:cNvSpPr/>
          <p:nvPr/>
        </p:nvSpPr>
        <p:spPr>
          <a:xfrm>
            <a:off x="5296205" y="1993392"/>
            <a:ext cx="1596542" cy="384048"/>
          </a:xfrm>
          <a:prstGeom prst="rect">
            <a:avLst/>
          </a:prstGeom>
          <a:noFill/>
          <a:ln/>
        </p:spPr>
        <p:txBody>
          <a:bodyPr wrap="square" lIns="0" tIns="0" rIns="0" bIns="0" rtlCol="0" anchor="ctr"/>
          <a:lstStyle/>
          <a:p>
            <a:pPr indent="0" marL="0">
              <a:buNone/>
            </a:pPr>
            <a:r>
              <a:rPr lang="en-US" sz="1600" b="1" dirty="0">
                <a:solidFill>
                  <a:srgbClr val="C05621"/>
                </a:solidFill>
                <a:latin typeface="Arial" pitchFamily="34" charset="0"/>
                <a:ea typeface="Arial" pitchFamily="34" charset="-122"/>
                <a:cs typeface="Arial" pitchFamily="34" charset="-120"/>
              </a:rPr>
              <a:t>Development</a:t>
            </a:r>
            <a:endParaRPr lang="en-US" sz="1600" dirty="0"/>
          </a:p>
        </p:txBody>
      </p:sp>
      <p:sp>
        <p:nvSpPr>
          <p:cNvPr id="11" name="Shape 9"/>
          <p:cNvSpPr/>
          <p:nvPr/>
        </p:nvSpPr>
        <p:spPr>
          <a:xfrm>
            <a:off x="7368235" y="1828800"/>
            <a:ext cx="1998878" cy="1051560"/>
          </a:xfrm>
          <a:prstGeom prst="rect">
            <a:avLst/>
          </a:prstGeom>
          <a:solidFill>
            <a:srgbClr val="FBEEE4"/>
          </a:solidFill>
          <a:ln w="12700">
            <a:solidFill>
              <a:srgbClr val="FBEEE4"/>
            </a:solidFill>
            <a:prstDash val="solid"/>
          </a:ln>
        </p:spPr>
      </p:sp>
      <p:sp>
        <p:nvSpPr>
          <p:cNvPr id="12" name="Text 10"/>
          <p:cNvSpPr/>
          <p:nvPr/>
        </p:nvSpPr>
        <p:spPr>
          <a:xfrm>
            <a:off x="7569403" y="1993392"/>
            <a:ext cx="1596542" cy="384048"/>
          </a:xfrm>
          <a:prstGeom prst="rect">
            <a:avLst/>
          </a:prstGeom>
          <a:noFill/>
          <a:ln/>
        </p:spPr>
        <p:txBody>
          <a:bodyPr wrap="square" lIns="0" tIns="0" rIns="0" bIns="0" rtlCol="0" anchor="ctr"/>
          <a:lstStyle/>
          <a:p>
            <a:pPr indent="0" marL="0">
              <a:buNone/>
            </a:pPr>
            <a:r>
              <a:rPr lang="en-US" sz="1600" b="1" dirty="0">
                <a:solidFill>
                  <a:srgbClr val="C05621"/>
                </a:solidFill>
                <a:latin typeface="Arial" pitchFamily="34" charset="0"/>
                <a:ea typeface="Arial" pitchFamily="34" charset="-122"/>
                <a:cs typeface="Arial" pitchFamily="34" charset="-120"/>
              </a:rPr>
              <a:t>Beaver</a:t>
            </a:r>
            <a:endParaRPr lang="en-US" sz="1600" dirty="0"/>
          </a:p>
        </p:txBody>
      </p:sp>
      <p:sp>
        <p:nvSpPr>
          <p:cNvPr id="13" name="Shape 11"/>
          <p:cNvSpPr/>
          <p:nvPr/>
        </p:nvSpPr>
        <p:spPr>
          <a:xfrm>
            <a:off x="9641434" y="1828800"/>
            <a:ext cx="1998878" cy="1051560"/>
          </a:xfrm>
          <a:prstGeom prst="rect">
            <a:avLst/>
          </a:prstGeom>
          <a:solidFill>
            <a:srgbClr val="FBEEE4"/>
          </a:solidFill>
          <a:ln w="12700">
            <a:solidFill>
              <a:srgbClr val="FBEEE4"/>
            </a:solidFill>
            <a:prstDash val="solid"/>
          </a:ln>
        </p:spPr>
      </p:sp>
      <p:sp>
        <p:nvSpPr>
          <p:cNvPr id="14" name="Text 12"/>
          <p:cNvSpPr/>
          <p:nvPr/>
        </p:nvSpPr>
        <p:spPr>
          <a:xfrm>
            <a:off x="9842602" y="1993392"/>
            <a:ext cx="1596542" cy="384048"/>
          </a:xfrm>
          <a:prstGeom prst="rect">
            <a:avLst/>
          </a:prstGeom>
          <a:noFill/>
          <a:ln/>
        </p:spPr>
        <p:txBody>
          <a:bodyPr wrap="square" lIns="0" tIns="0" rIns="0" bIns="0" rtlCol="0" anchor="ctr"/>
          <a:lstStyle/>
          <a:p>
            <a:pPr indent="0" marL="0">
              <a:buNone/>
            </a:pPr>
            <a:r>
              <a:rPr lang="en-US" sz="1600" b="1" dirty="0">
                <a:solidFill>
                  <a:srgbClr val="C05621"/>
                </a:solidFill>
                <a:latin typeface="Arial" pitchFamily="34" charset="0"/>
                <a:ea typeface="Arial" pitchFamily="34" charset="-122"/>
                <a:cs typeface="Arial" pitchFamily="34" charset="-120"/>
              </a:rPr>
              <a:t>Insect / disease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Results</a:t>
            </a:r>
            <a:endParaRPr lang="en-US" sz="2800" dirty="0"/>
          </a:p>
        </p:txBody>
      </p:sp>
      <p:sp>
        <p:nvSpPr>
          <p:cNvPr id="3" name="Shape 1"/>
          <p:cNvSpPr/>
          <p:nvPr/>
        </p:nvSpPr>
        <p:spPr>
          <a:xfrm>
            <a:off x="548640" y="1371600"/>
            <a:ext cx="5408676" cy="2377440"/>
          </a:xfrm>
          <a:prstGeom prst="rect">
            <a:avLst/>
          </a:prstGeom>
          <a:solidFill>
            <a:srgbClr val="E9F1F8"/>
          </a:solidFill>
          <a:ln w="12700">
            <a:solidFill>
              <a:srgbClr val="E9F1F8"/>
            </a:solidFill>
            <a:prstDash val="solid"/>
          </a:ln>
        </p:spPr>
      </p:sp>
      <p:sp>
        <p:nvSpPr>
          <p:cNvPr id="4" name="Text 2"/>
          <p:cNvSpPr/>
          <p:nvPr/>
        </p:nvSpPr>
        <p:spPr>
          <a:xfrm>
            <a:off x="749808" y="1536192"/>
            <a:ext cx="5006340" cy="384048"/>
          </a:xfrm>
          <a:prstGeom prst="rect">
            <a:avLst/>
          </a:prstGeom>
          <a:noFill/>
          <a:ln/>
        </p:spPr>
        <p:txBody>
          <a:bodyPr wrap="square" lIns="0" tIns="0" rIns="0" bIns="0" rtlCol="0" anchor="ctr"/>
          <a:lstStyle/>
          <a:p>
            <a:pPr indent="0" marL="0">
              <a:buNone/>
            </a:pPr>
            <a:r>
              <a:rPr lang="en-US" sz="2200" b="1" dirty="0">
                <a:solidFill>
                  <a:srgbClr val="1F6FB2"/>
                </a:solidFill>
                <a:latin typeface="Arial" pitchFamily="34" charset="0"/>
                <a:ea typeface="Arial" pitchFamily="34" charset="-122"/>
                <a:cs typeface="Arial" pitchFamily="34" charset="-120"/>
              </a:rPr>
              <a:t>1. How do we structure them?</a:t>
            </a:r>
            <a:endParaRPr lang="en-US" sz="2200" dirty="0"/>
          </a:p>
        </p:txBody>
      </p:sp>
      <p:sp>
        <p:nvSpPr>
          <p:cNvPr id="5" name="Text 3"/>
          <p:cNvSpPr/>
          <p:nvPr/>
        </p:nvSpPr>
        <p:spPr>
          <a:xfrm>
            <a:off x="749808" y="1993392"/>
            <a:ext cx="5006340" cy="1572768"/>
          </a:xfrm>
          <a:prstGeom prst="rect">
            <a:avLst/>
          </a:prstGeom>
          <a:noFill/>
          <a:ln/>
        </p:spPr>
        <p:txBody>
          <a:bodyPr wrap="square" lIns="0" tIns="0" rIns="0" bIns="0" rtlCol="0" anchor="t"/>
          <a:lstStyle/>
          <a:p>
            <a:pPr indent="0" marL="0">
              <a:lnSpc>
                <a:spcPts val="2000"/>
              </a:lnSpc>
              <a:buNone/>
            </a:pPr>
            <a:r>
              <a:rPr lang="en-US" sz="1700" dirty="0">
                <a:solidFill>
                  <a:srgbClr val="333333"/>
                </a:solidFill>
                <a:latin typeface="Arial" pitchFamily="34" charset="0"/>
                <a:ea typeface="Arial" pitchFamily="34" charset="-122"/>
                <a:cs typeface="Arial" pitchFamily="34" charset="-120"/>
              </a:rPr>
              <a:t>Which construction of change from two embeddings works?</a:t>
            </a:r>
            <a:endParaRPr lang="en-US" sz="1700" dirty="0"/>
          </a:p>
        </p:txBody>
      </p:sp>
      <p:sp>
        <p:nvSpPr>
          <p:cNvPr id="6" name="Shape 4"/>
          <p:cNvSpPr/>
          <p:nvPr/>
        </p:nvSpPr>
        <p:spPr>
          <a:xfrm>
            <a:off x="6231636" y="1371600"/>
            <a:ext cx="5408676" cy="2377440"/>
          </a:xfrm>
          <a:prstGeom prst="rect">
            <a:avLst/>
          </a:prstGeom>
          <a:solidFill>
            <a:srgbClr val="FBEEE4"/>
          </a:solidFill>
          <a:ln w="12700">
            <a:solidFill>
              <a:srgbClr val="FBEEE4"/>
            </a:solidFill>
            <a:prstDash val="solid"/>
          </a:ln>
        </p:spPr>
      </p:sp>
      <p:sp>
        <p:nvSpPr>
          <p:cNvPr id="7" name="Text 5"/>
          <p:cNvSpPr/>
          <p:nvPr/>
        </p:nvSpPr>
        <p:spPr>
          <a:xfrm>
            <a:off x="6432804" y="1536192"/>
            <a:ext cx="5006340" cy="384048"/>
          </a:xfrm>
          <a:prstGeom prst="rect">
            <a:avLst/>
          </a:prstGeom>
          <a:noFill/>
          <a:ln/>
        </p:spPr>
        <p:txBody>
          <a:bodyPr wrap="square" lIns="0" tIns="0" rIns="0" bIns="0" rtlCol="0" anchor="ctr"/>
          <a:lstStyle/>
          <a:p>
            <a:pPr indent="0" marL="0">
              <a:buNone/>
            </a:pPr>
            <a:r>
              <a:rPr lang="en-US" sz="2200" b="1" dirty="0">
                <a:solidFill>
                  <a:srgbClr val="C05621"/>
                </a:solidFill>
                <a:latin typeface="Arial" pitchFamily="34" charset="0"/>
                <a:ea typeface="Arial" pitchFamily="34" charset="-122"/>
                <a:cs typeface="Arial" pitchFamily="34" charset="-120"/>
              </a:rPr>
              <a:t>2. How do we tell the maps apart?</a:t>
            </a:r>
            <a:endParaRPr lang="en-US" sz="2200" dirty="0"/>
          </a:p>
        </p:txBody>
      </p:sp>
      <p:sp>
        <p:nvSpPr>
          <p:cNvPr id="8" name="Text 6"/>
          <p:cNvSpPr/>
          <p:nvPr/>
        </p:nvSpPr>
        <p:spPr>
          <a:xfrm>
            <a:off x="6432804" y="1993392"/>
            <a:ext cx="5006340" cy="1572768"/>
          </a:xfrm>
          <a:prstGeom prst="rect">
            <a:avLst/>
          </a:prstGeom>
          <a:noFill/>
          <a:ln/>
        </p:spPr>
        <p:txBody>
          <a:bodyPr wrap="square" lIns="0" tIns="0" rIns="0" bIns="0" rtlCol="0" anchor="t"/>
          <a:lstStyle/>
          <a:p>
            <a:pPr indent="0" marL="0">
              <a:lnSpc>
                <a:spcPts val="2000"/>
              </a:lnSpc>
              <a:buNone/>
            </a:pPr>
            <a:r>
              <a:rPr lang="en-US" sz="1700" dirty="0">
                <a:solidFill>
                  <a:srgbClr val="333333"/>
                </a:solidFill>
                <a:latin typeface="Arial" pitchFamily="34" charset="0"/>
                <a:ea typeface="Arial" pitchFamily="34" charset="-122"/>
                <a:cs typeface="Arial" pitchFamily="34" charset="-120"/>
              </a:rPr>
              <a:t>Which configuration actually produces a better map?</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Change-class F1</a:t>
            </a:r>
            <a:endParaRPr lang="en-US" sz="2800" dirty="0"/>
          </a:p>
        </p:txBody>
      </p:sp>
      <p:sp>
        <p:nvSpPr>
          <p:cNvPr id="3" name="Shape 1"/>
          <p:cNvSpPr/>
          <p:nvPr/>
        </p:nvSpPr>
        <p:spPr>
          <a:xfrm>
            <a:off x="685800" y="1051560"/>
            <a:ext cx="10817352" cy="5486400"/>
          </a:xfrm>
          <a:prstGeom prst="rect">
            <a:avLst/>
          </a:prstGeom>
          <a:solidFill>
            <a:srgbClr val="FFFFFF"/>
          </a:solidFill>
          <a:ln w="12700">
            <a:solidFill>
              <a:srgbClr val="C8C8C8"/>
            </a:solidFill>
            <a:prstDash val="dash"/>
          </a:ln>
        </p:spPr>
      </p:sp>
      <p:sp>
        <p:nvSpPr>
          <p:cNvPr id="4" name="Text 2"/>
          <p:cNvSpPr/>
          <p:nvPr/>
        </p:nvSpPr>
        <p:spPr>
          <a:xfrm>
            <a:off x="685800" y="3520440"/>
            <a:ext cx="10817352" cy="548640"/>
          </a:xfrm>
          <a:prstGeom prst="rect">
            <a:avLst/>
          </a:prstGeom>
          <a:noFill/>
          <a:ln/>
        </p:spPr>
        <p:txBody>
          <a:bodyPr wrap="square" lIns="0" tIns="0" rIns="0" bIns="0" rtlCol="0" anchor="ctr"/>
          <a:lstStyle/>
          <a:p>
            <a:pPr algn="ctr" indent="0" marL="0">
              <a:buNone/>
            </a:pPr>
            <a:r>
              <a:rPr lang="en-US" sz="1400" dirty="0">
                <a:solidFill>
                  <a:srgbClr val="8A8A8A"/>
                </a:solidFill>
                <a:latin typeface="Arial" pitchFamily="34" charset="0"/>
                <a:ea typeface="Arial" pitchFamily="34" charset="-122"/>
                <a:cs typeface="Arial" pitchFamily="34" charset="-120"/>
              </a:rPr>
              <a:t>[ pres_14_changeclass_f1_5class.png ]</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Is it just the training data?</a:t>
            </a:r>
            <a:endParaRPr lang="en-US" sz="2800" dirty="0"/>
          </a:p>
        </p:txBody>
      </p:sp>
      <p:pic>
        <p:nvPicPr>
          <p:cNvPr id="3" name="Image 0" descr="thesis_materials/figures/fig_2_10_changecap.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Vary change-class training points: 50, 100, 150, 200</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Producer's accuracy moves</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User's accuracy stays near zero</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More training points is not the fix</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Embeddings perform like spectral</a:t>
            </a:r>
            <a:endParaRPr lang="en-US" sz="2800" dirty="0"/>
          </a:p>
        </p:txBody>
      </p:sp>
      <p:pic>
        <p:nvPicPr>
          <p:cNvPr id="3" name="Image 0" descr="thesis_materials/figures/fig_2_5_percell_f1.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One point per cell, identical footprints</a:t>
            </a:r>
            <a:endParaRPr lang="en-US" sz="1800" dirty="0"/>
          </a:p>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Distributions overlap heavily</a:t>
            </a:r>
            <a:endParaRPr lang="en-US" sz="1800" dirty="0"/>
          </a:p>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No configuration is clearly ahead</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5840" y="2286000"/>
            <a:ext cx="10149840" cy="2286000"/>
          </a:xfrm>
          <a:prstGeom prst="rect">
            <a:avLst/>
          </a:prstGeom>
          <a:noFill/>
          <a:ln/>
        </p:spPr>
        <p:txBody>
          <a:bodyPr wrap="square" lIns="0" tIns="0" rIns="0" bIns="0" rtlCol="0" anchor="ctr"/>
          <a:lstStyle/>
          <a:p>
            <a:pPr indent="0" marL="0">
              <a:buNone/>
            </a:pPr>
            <a:r>
              <a:rPr lang="en-US" sz="4000" b="1" dirty="0">
                <a:solidFill>
                  <a:srgbClr val="1A1A1A"/>
                </a:solidFill>
                <a:latin typeface="Arial" pitchFamily="34" charset="0"/>
                <a:ea typeface="Arial" pitchFamily="34" charset="-122"/>
                <a:cs typeface="Arial" pitchFamily="34" charset="-120"/>
              </a:rPr>
              <a:t>Why are the change classes so bad?</a:t>
            </a:r>
            <a:endParaRPr lang="en-US" sz="4000" dirty="0"/>
          </a:p>
        </p:txBody>
      </p:sp>
      <p:sp>
        <p:nvSpPr>
          <p:cNvPr id="3" name="Text 1"/>
          <p:cNvSpPr/>
          <p:nvPr/>
        </p:nvSpPr>
        <p:spPr>
          <a:xfrm>
            <a:off x="1005840" y="4617720"/>
            <a:ext cx="10149840" cy="731520"/>
          </a:xfrm>
          <a:prstGeom prst="rect">
            <a:avLst/>
          </a:prstGeom>
          <a:noFill/>
          <a:ln/>
        </p:spPr>
        <p:txBody>
          <a:bodyPr wrap="square" lIns="0" tIns="0" rIns="0" bIns="0" rtlCol="0" anchor="ctr"/>
          <a:lstStyle/>
          <a:p>
            <a:pPr indent="0" marL="0">
              <a:buNone/>
            </a:pPr>
            <a:r>
              <a:rPr lang="en-US" sz="1900" dirty="0">
                <a:solidFill>
                  <a:srgbClr val="333333"/>
                </a:solidFill>
                <a:latin typeface="Arial" pitchFamily="34" charset="0"/>
                <a:ea typeface="Arial" pitchFamily="34" charset="-122"/>
                <a:cs typeface="Arial" pitchFamily="34" charset="-120"/>
              </a:rPr>
              <a:t>Every configuration fails on them, including the spectral baseline. That points somewhere other than the features.</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Interpreters disagree, and not at random</a:t>
            </a:r>
            <a:endParaRPr lang="en-US" sz="2800" dirty="0"/>
          </a:p>
        </p:txBody>
      </p:sp>
      <p:pic>
        <p:nvPicPr>
          <p:cNvPr id="3" name="Image 0" descr="thesis_materials/figures/fig_3_3_agreement_forest.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Stable 0.99, Harvest 0.75</a:t>
            </a:r>
            <a:endParaRPr lang="en-US" sz="1800" dirty="0"/>
          </a:p>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Development 0.29</a:t>
            </a:r>
            <a:endParaRPr lang="en-US" sz="1800" dirty="0"/>
          </a:p>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Insect / disease 0.23</a:t>
            </a:r>
            <a:endParaRPr lang="en-US" sz="1800" dirty="0"/>
          </a:p>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Beaver 0.08</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Against the interpreter ceiling</a:t>
            </a:r>
            <a:endParaRPr lang="en-US" sz="2800" dirty="0"/>
          </a:p>
        </p:txBody>
      </p:sp>
      <p:pic>
        <p:nvPicPr>
          <p:cNvPr id="3" name="Image 0" descr="thesis_materials/figures/fig_2_11_model_vs_interpreter.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Grey diamonds: how well two humans agree</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Stable classes reach it</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Harvest does not</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Change classes sit below an already low ceiling</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05840" y="2286000"/>
            <a:ext cx="10149840" cy="2286000"/>
          </a:xfrm>
          <a:prstGeom prst="rect">
            <a:avLst/>
          </a:prstGeom>
          <a:noFill/>
          <a:ln/>
        </p:spPr>
        <p:txBody>
          <a:bodyPr wrap="square" lIns="0" tIns="0" rIns="0" bIns="0" rtlCol="0" anchor="ctr"/>
          <a:lstStyle/>
          <a:p>
            <a:pPr indent="0" marL="0">
              <a:buNone/>
            </a:pPr>
            <a:r>
              <a:rPr lang="en-US" sz="3400" b="1" dirty="0">
                <a:solidFill>
                  <a:srgbClr val="C05621"/>
                </a:solidFill>
                <a:latin typeface="Arial" pitchFamily="34" charset="0"/>
                <a:ea typeface="Arial" pitchFamily="34" charset="-122"/>
                <a:cs typeface="Arial" pitchFamily="34" charset="-120"/>
              </a:rPr>
              <a:t>So every configuration scores about the same. Which one gives a better map?</a:t>
            </a:r>
            <a:endParaRPr lang="en-US" sz="3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The same ground</a:t>
            </a:r>
            <a:endParaRPr lang="en-US" sz="2800" dirty="0"/>
          </a:p>
        </p:txBody>
      </p:sp>
      <p:pic>
        <p:nvPicPr>
          <p:cNvPr id="3" name="Image 0" descr="thesis_materials/figures/fig_2_9_speckle.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Measuring it</a:t>
            </a:r>
            <a:endParaRPr lang="en-US" sz="2800" dirty="0"/>
          </a:p>
        </p:txBody>
      </p:sp>
      <p:pic>
        <p:nvPicPr>
          <p:cNvPr id="3" name="Image 0" descr="thesis_materials/figures/fig_2_7_patch_ecdf.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Area-weighted patch size</a:t>
            </a:r>
            <a:endParaRPr lang="en-US" sz="1800" dirty="0"/>
          </a:p>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Reference 239 ha, v2 110 ha, v6 near zero</a:t>
            </a:r>
            <a:endParaRPr lang="en-US" sz="1800" dirty="0"/>
          </a:p>
          <a:p>
            <a:pPr marL="342900" indent="-342900">
              <a:spcAft>
                <a:spcPts val="1200"/>
              </a:spcAft>
              <a:buSzPct val="100000"/>
              <a:buChar char="•"/>
            </a:pPr>
            <a:r>
              <a:rPr lang="en-US" sz="1800" dirty="0">
                <a:solidFill>
                  <a:srgbClr val="333333"/>
                </a:solidFill>
                <a:latin typeface="Arial" pitchFamily="34" charset="0"/>
                <a:ea typeface="Arial" pitchFamily="34" charset="-122"/>
                <a:cs typeface="Arial" pitchFamily="34" charset="-120"/>
              </a:rPr>
              <a:t>Moran's I and neighbor-change tell the same story</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The best-scoring configuration is one of the worst maps</a:t>
            </a:r>
            <a:endParaRPr lang="en-US" sz="2800" dirty="0"/>
          </a:p>
        </p:txBody>
      </p:sp>
      <p:pic>
        <p:nvPicPr>
          <p:cNvPr id="3" name="Image 0" descr="presentation/figures/pres_06b_speckle_vs_oa_5class.png">    </p:cNvPr>
          <p:cNvPicPr>
            <a:picLocks noChangeAspect="1"/>
          </p:cNvPicPr>
          <p:nvPr/>
        </p:nvPicPr>
        <p:blipFill>
          <a:blip r:embed="rId1"/>
          <a:srcRect l="0" r="0" t="0" b="0"/>
          <a:stretch/>
        </p:blipFill>
        <p:spPr>
          <a:xfrm>
            <a:off x="502920" y="1051560"/>
            <a:ext cx="7589520" cy="5349240"/>
          </a:xfrm>
          <a:prstGeom prst="rect">
            <a:avLst/>
          </a:prstGeom>
        </p:spPr>
      </p:pic>
      <p:sp>
        <p:nvSpPr>
          <p:cNvPr id="4" name="Text 1"/>
          <p:cNvSpPr/>
          <p:nvPr/>
        </p:nvSpPr>
        <p:spPr>
          <a:xfrm>
            <a:off x="8412480" y="1325880"/>
            <a:ext cx="3291840" cy="4937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v4 tops five-class accuracy</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v4 is among the most fragmented</a:t>
            </a:r>
            <a:endParaRPr lang="en-US" sz="1700" dirty="0"/>
          </a:p>
          <a:p>
            <a:pPr marL="342900" indent="-342900">
              <a:spcAft>
                <a:spcPts val="1200"/>
              </a:spcAft>
              <a:buSzPct val="100000"/>
              <a:buChar char="•"/>
            </a:pPr>
            <a:r>
              <a:rPr lang="en-US" sz="1700" dirty="0">
                <a:solidFill>
                  <a:srgbClr val="333333"/>
                </a:solidFill>
                <a:latin typeface="Arial" pitchFamily="34" charset="0"/>
                <a:ea typeface="Arial" pitchFamily="34" charset="-122"/>
                <a:cs typeface="Arial" pitchFamily="34" charset="-120"/>
              </a:rPr>
              <a:t>Every configuration loses to predicting Stable everywhere</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Back to the questions</a:t>
            </a:r>
            <a:endParaRPr lang="en-US" sz="2800" dirty="0"/>
          </a:p>
        </p:txBody>
      </p:sp>
      <p:sp>
        <p:nvSpPr>
          <p:cNvPr id="3" name="Shape 1"/>
          <p:cNvSpPr/>
          <p:nvPr/>
        </p:nvSpPr>
        <p:spPr>
          <a:xfrm>
            <a:off x="548640" y="1371600"/>
            <a:ext cx="5408676" cy="2926080"/>
          </a:xfrm>
          <a:prstGeom prst="rect">
            <a:avLst/>
          </a:prstGeom>
          <a:solidFill>
            <a:srgbClr val="E9F1F8"/>
          </a:solidFill>
          <a:ln w="12700">
            <a:solidFill>
              <a:srgbClr val="E9F1F8"/>
            </a:solidFill>
            <a:prstDash val="solid"/>
          </a:ln>
        </p:spPr>
      </p:sp>
      <p:sp>
        <p:nvSpPr>
          <p:cNvPr id="4" name="Text 2"/>
          <p:cNvSpPr/>
          <p:nvPr/>
        </p:nvSpPr>
        <p:spPr>
          <a:xfrm>
            <a:off x="749808" y="1536192"/>
            <a:ext cx="5006340" cy="384048"/>
          </a:xfrm>
          <a:prstGeom prst="rect">
            <a:avLst/>
          </a:prstGeom>
          <a:noFill/>
          <a:ln/>
        </p:spPr>
        <p:txBody>
          <a:bodyPr wrap="square" lIns="0" tIns="0" rIns="0" bIns="0" rtlCol="0" anchor="ctr"/>
          <a:lstStyle/>
          <a:p>
            <a:pPr indent="0" marL="0">
              <a:buNone/>
            </a:pPr>
            <a:r>
              <a:rPr lang="en-US" sz="2200" b="1" dirty="0">
                <a:solidFill>
                  <a:srgbClr val="1F6FB2"/>
                </a:solidFill>
                <a:latin typeface="Arial" pitchFamily="34" charset="0"/>
                <a:ea typeface="Arial" pitchFamily="34" charset="-122"/>
                <a:cs typeface="Arial" pitchFamily="34" charset="-120"/>
              </a:rPr>
              <a:t>1. How do we structure them?</a:t>
            </a:r>
            <a:endParaRPr lang="en-US" sz="2200" dirty="0"/>
          </a:p>
        </p:txBody>
      </p:sp>
      <p:sp>
        <p:nvSpPr>
          <p:cNvPr id="5" name="Text 3"/>
          <p:cNvSpPr/>
          <p:nvPr/>
        </p:nvSpPr>
        <p:spPr>
          <a:xfrm>
            <a:off x="749808" y="1993392"/>
            <a:ext cx="5006340" cy="2121408"/>
          </a:xfrm>
          <a:prstGeom prst="rect">
            <a:avLst/>
          </a:prstGeom>
          <a:noFill/>
          <a:ln/>
        </p:spPr>
        <p:txBody>
          <a:bodyPr wrap="square" lIns="0" tIns="0" rIns="0" bIns="0" rtlCol="0" anchor="t"/>
          <a:lstStyle/>
          <a:p>
            <a:pPr indent="0" marL="0">
              <a:lnSpc>
                <a:spcPts val="2000"/>
              </a:lnSpc>
              <a:buNone/>
            </a:pPr>
            <a:r>
              <a:rPr lang="en-US" sz="1700" dirty="0">
                <a:solidFill>
                  <a:srgbClr val="333333"/>
                </a:solidFill>
                <a:latin typeface="Arial" pitchFamily="34" charset="0"/>
                <a:ea typeface="Arial" pitchFamily="34" charset="-122"/>
                <a:cs typeface="Arial" pitchFamily="34" charset="-120"/>
              </a:rPr>
              <a:t>Keep a full baseline embedding. Reducing change to a magnitude alone destroys the map, even when accuracy looks fine.</a:t>
            </a:r>
            <a:endParaRPr lang="en-US" sz="1700" dirty="0"/>
          </a:p>
        </p:txBody>
      </p:sp>
      <p:sp>
        <p:nvSpPr>
          <p:cNvPr id="6" name="Shape 4"/>
          <p:cNvSpPr/>
          <p:nvPr/>
        </p:nvSpPr>
        <p:spPr>
          <a:xfrm>
            <a:off x="6231636" y="1371600"/>
            <a:ext cx="5408676" cy="2926080"/>
          </a:xfrm>
          <a:prstGeom prst="rect">
            <a:avLst/>
          </a:prstGeom>
          <a:solidFill>
            <a:srgbClr val="FBEEE4"/>
          </a:solidFill>
          <a:ln w="12700">
            <a:solidFill>
              <a:srgbClr val="FBEEE4"/>
            </a:solidFill>
            <a:prstDash val="solid"/>
          </a:ln>
        </p:spPr>
      </p:sp>
      <p:sp>
        <p:nvSpPr>
          <p:cNvPr id="7" name="Text 5"/>
          <p:cNvSpPr/>
          <p:nvPr/>
        </p:nvSpPr>
        <p:spPr>
          <a:xfrm>
            <a:off x="6432804" y="1536192"/>
            <a:ext cx="5006340" cy="384048"/>
          </a:xfrm>
          <a:prstGeom prst="rect">
            <a:avLst/>
          </a:prstGeom>
          <a:noFill/>
          <a:ln/>
        </p:spPr>
        <p:txBody>
          <a:bodyPr wrap="square" lIns="0" tIns="0" rIns="0" bIns="0" rtlCol="0" anchor="ctr"/>
          <a:lstStyle/>
          <a:p>
            <a:pPr indent="0" marL="0">
              <a:buNone/>
            </a:pPr>
            <a:r>
              <a:rPr lang="en-US" sz="2200" b="1" dirty="0">
                <a:solidFill>
                  <a:srgbClr val="C05621"/>
                </a:solidFill>
                <a:latin typeface="Arial" pitchFamily="34" charset="0"/>
                <a:ea typeface="Arial" pitchFamily="34" charset="-122"/>
                <a:cs typeface="Arial" pitchFamily="34" charset="-120"/>
              </a:rPr>
              <a:t>2. How do we tell the maps apart?</a:t>
            </a:r>
            <a:endParaRPr lang="en-US" sz="2200" dirty="0"/>
          </a:p>
        </p:txBody>
      </p:sp>
      <p:sp>
        <p:nvSpPr>
          <p:cNvPr id="8" name="Text 6"/>
          <p:cNvSpPr/>
          <p:nvPr/>
        </p:nvSpPr>
        <p:spPr>
          <a:xfrm>
            <a:off x="6432804" y="1993392"/>
            <a:ext cx="5006340" cy="2121408"/>
          </a:xfrm>
          <a:prstGeom prst="rect">
            <a:avLst/>
          </a:prstGeom>
          <a:noFill/>
          <a:ln/>
        </p:spPr>
        <p:txBody>
          <a:bodyPr wrap="square" lIns="0" tIns="0" rIns="0" bIns="0" rtlCol="0" anchor="t"/>
          <a:lstStyle/>
          <a:p>
            <a:pPr indent="0" marL="0">
              <a:lnSpc>
                <a:spcPts val="2000"/>
              </a:lnSpc>
              <a:buNone/>
            </a:pPr>
            <a:r>
              <a:rPr lang="en-US" sz="1700" dirty="0">
                <a:solidFill>
                  <a:srgbClr val="333333"/>
                </a:solidFill>
                <a:latin typeface="Arial" pitchFamily="34" charset="0"/>
                <a:ea typeface="Arial" pitchFamily="34" charset="-122"/>
                <a:cs typeface="Arial" pitchFamily="34" charset="-120"/>
              </a:rPr>
              <a:t>Not from accuracy, and not from a point sample. Spatial structure separates them, and it takes wall-to-wall reference to see it.</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What we found</a:t>
            </a:r>
            <a:endParaRPr lang="en-US" sz="2800" dirty="0"/>
          </a:p>
        </p:txBody>
      </p:sp>
      <p:sp>
        <p:nvSpPr>
          <p:cNvPr id="3" name="Text 1"/>
          <p:cNvSpPr/>
          <p:nvPr/>
        </p:nvSpPr>
        <p:spPr>
          <a:xfrm>
            <a:off x="777240" y="1463040"/>
            <a:ext cx="10607040" cy="4754880"/>
          </a:xfrm>
          <a:prstGeom prst="rect">
            <a:avLst/>
          </a:prstGeom>
          <a:noFill/>
          <a:ln/>
        </p:spPr>
        <p:txBody>
          <a:bodyPr wrap="square" lIns="0" tIns="0" rIns="0" bIns="0" rtlCol="0" anchor="t"/>
          <a:lstStyle/>
          <a:p>
            <a:pPr marL="342900" indent="-342900">
              <a:spcAft>
                <a:spcPts val="1200"/>
              </a:spcAft>
              <a:buSzPct val="100000"/>
              <a:buChar char="•"/>
            </a:pPr>
            <a:r>
              <a:rPr lang="en-US" sz="2100" dirty="0">
                <a:solidFill>
                  <a:srgbClr val="333333"/>
                </a:solidFill>
                <a:latin typeface="Arial" pitchFamily="34" charset="0"/>
                <a:ea typeface="Arial" pitchFamily="34" charset="-122"/>
                <a:cs typeface="Arial" pitchFamily="34" charset="-120"/>
              </a:rPr>
              <a:t>Embeddings match a matched spectral baseline. They do not beat it</a:t>
            </a:r>
            <a:endParaRPr lang="en-US" sz="2100" dirty="0"/>
          </a:p>
          <a:p>
            <a:pPr marL="342900" indent="-342900">
              <a:spcAft>
                <a:spcPts val="1200"/>
              </a:spcAft>
              <a:buSzPct val="100000"/>
              <a:buChar char="•"/>
            </a:pPr>
            <a:r>
              <a:rPr lang="en-US" sz="2100" dirty="0">
                <a:solidFill>
                  <a:srgbClr val="333333"/>
                </a:solidFill>
                <a:latin typeface="Arial" pitchFamily="34" charset="0"/>
                <a:ea typeface="Arial" pitchFamily="34" charset="-122"/>
                <a:cs typeface="Arial" pitchFamily="34" charset="-120"/>
              </a:rPr>
              <a:t>Keeping a baseline embedding is what matters most</a:t>
            </a:r>
            <a:endParaRPr lang="en-US" sz="2100" dirty="0"/>
          </a:p>
          <a:p>
            <a:pPr marL="342900" indent="-342900">
              <a:spcAft>
                <a:spcPts val="1200"/>
              </a:spcAft>
              <a:buSzPct val="100000"/>
              <a:buChar char="•"/>
            </a:pPr>
            <a:r>
              <a:rPr lang="en-US" sz="2100" dirty="0">
                <a:solidFill>
                  <a:srgbClr val="333333"/>
                </a:solidFill>
                <a:latin typeface="Arial" pitchFamily="34" charset="0"/>
                <a:ea typeface="Arial" pitchFamily="34" charset="-122"/>
                <a:cs typeface="Arial" pitchFamily="34" charset="-120"/>
              </a:rPr>
              <a:t>Aggregate accuracy is blind to spatial structure</a:t>
            </a:r>
            <a:endParaRPr lang="en-US" sz="2100" dirty="0"/>
          </a:p>
          <a:p>
            <a:pPr marL="342900" indent="-342900">
              <a:spcAft>
                <a:spcPts val="1200"/>
              </a:spcAft>
              <a:buSzPct val="100000"/>
              <a:buChar char="•"/>
            </a:pPr>
            <a:r>
              <a:rPr lang="en-US" sz="2100" dirty="0">
                <a:solidFill>
                  <a:srgbClr val="333333"/>
                </a:solidFill>
                <a:latin typeface="Arial" pitchFamily="34" charset="0"/>
                <a:ea typeface="Arial" pitchFamily="34" charset="-122"/>
                <a:cs typeface="Arial" pitchFamily="34" charset="-120"/>
              </a:rPr>
              <a:t>The change classes are limited by the reference, not the features</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Limitations</a:t>
            </a:r>
            <a:endParaRPr lang="en-US" sz="2800" dirty="0"/>
          </a:p>
        </p:txBody>
      </p:sp>
      <p:sp>
        <p:nvSpPr>
          <p:cNvPr id="3" name="Text 1"/>
          <p:cNvSpPr/>
          <p:nvPr/>
        </p:nvSpPr>
        <p:spPr>
          <a:xfrm>
            <a:off x="777240" y="1463040"/>
            <a:ext cx="10607040" cy="4754880"/>
          </a:xfrm>
          <a:prstGeom prst="rect">
            <a:avLst/>
          </a:prstGeom>
          <a:noFill/>
          <a:ln/>
        </p:spPr>
        <p:txBody>
          <a:bodyPr wrap="square" lIns="0" tIns="0" rIns="0" bIns="0" rtlCol="0" anchor="t"/>
          <a:lstStyle/>
          <a:p>
            <a:pPr marL="342900" indent="-342900">
              <a:spcAft>
                <a:spcPts val="1200"/>
              </a:spcAft>
              <a:buSzPct val="100000"/>
              <a:buChar char="•"/>
            </a:pPr>
            <a:r>
              <a:rPr lang="en-US" sz="2100" dirty="0">
                <a:solidFill>
                  <a:srgbClr val="333333"/>
                </a:solidFill>
                <a:latin typeface="Arial" pitchFamily="34" charset="0"/>
                <a:ea typeface="Arial" pitchFamily="34" charset="-122"/>
                <a:cs typeface="Arial" pitchFamily="34" charset="-120"/>
              </a:rPr>
              <a:t>Change polygons come from park watersheds, a small part of the grid</a:t>
            </a:r>
            <a:endParaRPr lang="en-US" sz="2100" dirty="0"/>
          </a:p>
          <a:p>
            <a:pPr marL="342900" indent="-342900">
              <a:spcAft>
                <a:spcPts val="1200"/>
              </a:spcAft>
              <a:buSzPct val="100000"/>
              <a:buChar char="•"/>
            </a:pPr>
            <a:r>
              <a:rPr lang="en-US" sz="2100" dirty="0">
                <a:solidFill>
                  <a:srgbClr val="333333"/>
                </a:solidFill>
                <a:latin typeface="Arial" pitchFamily="34" charset="0"/>
                <a:ea typeface="Arial" pitchFamily="34" charset="-122"/>
                <a:cs typeface="Arial" pitchFamily="34" charset="-120"/>
              </a:rPr>
              <a:t>One region, one scheme, one classifier</a:t>
            </a:r>
            <a:endParaRPr lang="en-US" sz="2100" dirty="0"/>
          </a:p>
          <a:p>
            <a:pPr marL="342900" indent="-342900">
              <a:spcAft>
                <a:spcPts val="1200"/>
              </a:spcAft>
              <a:buSzPct val="100000"/>
              <a:buChar char="•"/>
            </a:pPr>
            <a:r>
              <a:rPr lang="en-US" sz="2100" dirty="0">
                <a:solidFill>
                  <a:srgbClr val="333333"/>
                </a:solidFill>
                <a:latin typeface="Arial" pitchFamily="34" charset="0"/>
                <a:ea typeface="Arial" pitchFamily="34" charset="-122"/>
                <a:cs typeface="Arial" pitchFamily="34" charset="-120"/>
              </a:rPr>
              <a:t>Reliability rests on 72 cells</a:t>
            </a:r>
            <a:endParaRPr lang="en-US" sz="2100" dirty="0"/>
          </a:p>
          <a:p>
            <a:pPr marL="342900" indent="-342900">
              <a:spcAft>
                <a:spcPts val="1200"/>
              </a:spcAft>
              <a:buSzPct val="100000"/>
              <a:buChar char="•"/>
            </a:pPr>
            <a:r>
              <a:rPr lang="en-US" sz="2100" dirty="0">
                <a:solidFill>
                  <a:srgbClr val="333333"/>
                </a:solidFill>
                <a:latin typeface="Arial" pitchFamily="34" charset="0"/>
                <a:ea typeface="Arial" pitchFamily="34" charset="-122"/>
                <a:cs typeface="Arial" pitchFamily="34" charset="-120"/>
              </a:rPr>
              <a:t>The reference is a consensus, not a truth</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Thank you</a:t>
            </a:r>
            <a:endParaRPr lang="en-US" sz="2800" dirty="0"/>
          </a:p>
        </p:txBody>
      </p:sp>
      <p:sp>
        <p:nvSpPr>
          <p:cNvPr id="3" name="Text 1"/>
          <p:cNvSpPr/>
          <p:nvPr/>
        </p:nvSpPr>
        <p:spPr>
          <a:xfrm>
            <a:off x="777240" y="1463040"/>
            <a:ext cx="10607040" cy="47548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333333"/>
                </a:solidFill>
                <a:latin typeface="Arial" pitchFamily="34" charset="0"/>
                <a:ea typeface="Arial" pitchFamily="34" charset="-122"/>
                <a:cs typeface="Arial" pitchFamily="34" charset="-120"/>
              </a:rPr>
              <a:t>Robert Kennedy</a:t>
            </a:r>
            <a:endParaRPr lang="en-US" sz="2000" dirty="0"/>
          </a:p>
          <a:p>
            <a:pPr marL="342900" indent="-342900">
              <a:spcAft>
                <a:spcPts val="1200"/>
              </a:spcAft>
              <a:buSzPct val="100000"/>
              <a:buChar char="•"/>
            </a:pPr>
            <a:r>
              <a:rPr lang="en-US" sz="2000" dirty="0">
                <a:solidFill>
                  <a:srgbClr val="333333"/>
                </a:solidFill>
                <a:latin typeface="Arial" pitchFamily="34" charset="0"/>
                <a:ea typeface="Arial" pitchFamily="34" charset="-122"/>
                <a:cs typeface="Arial" pitchFamily="34" charset="-120"/>
              </a:rPr>
              <a:t>Jamon Van Den Hoek, Mark Raleigh, Hamed Alemohammad</a:t>
            </a:r>
            <a:endParaRPr lang="en-US" sz="2000" dirty="0"/>
          </a:p>
          <a:p>
            <a:pPr marL="342900" indent="-342900">
              <a:spcAft>
                <a:spcPts val="1200"/>
              </a:spcAft>
              <a:buSzPct val="100000"/>
              <a:buChar char="•"/>
            </a:pPr>
            <a:r>
              <a:rPr lang="en-US" sz="2000" dirty="0">
                <a:solidFill>
                  <a:srgbClr val="333333"/>
                </a:solidFill>
                <a:latin typeface="Arial" pitchFamily="34" charset="0"/>
                <a:ea typeface="Arial" pitchFamily="34" charset="-122"/>
                <a:cs typeface="Arial" pitchFamily="34" charset="-120"/>
              </a:rPr>
              <a:t>Bekka, Peter, and Ash</a:t>
            </a:r>
            <a:endParaRPr lang="en-US" sz="2000" dirty="0"/>
          </a:p>
          <a:p>
            <a:pPr marL="342900" indent="-342900">
              <a:spcAft>
                <a:spcPts val="1200"/>
              </a:spcAft>
              <a:buSzPct val="100000"/>
              <a:buChar char="•"/>
            </a:pPr>
            <a:r>
              <a:rPr lang="en-US" sz="2000" dirty="0">
                <a:solidFill>
                  <a:srgbClr val="333333"/>
                </a:solidFill>
                <a:latin typeface="Arial" pitchFamily="34" charset="0"/>
                <a:ea typeface="Arial" pitchFamily="34" charset="-122"/>
                <a:cs typeface="Arial" pitchFamily="34" charset="-120"/>
              </a:rPr>
              <a:t>NPS Great Lakes Inventory and Monitoring Network</a:t>
            </a:r>
            <a:endParaRPr lang="en-US" sz="2000" dirty="0"/>
          </a:p>
          <a:p>
            <a:pPr marL="342900" indent="-342900">
              <a:spcAft>
                <a:spcPts val="1200"/>
              </a:spcAft>
              <a:buSzPct val="100000"/>
              <a:buChar char="•"/>
            </a:pPr>
            <a:r>
              <a:rPr lang="en-US" sz="2000" dirty="0">
                <a:solidFill>
                  <a:srgbClr val="333333"/>
                </a:solidFill>
                <a:latin typeface="Arial" pitchFamily="34" charset="0"/>
                <a:ea typeface="Arial" pitchFamily="34" charset="-122"/>
                <a:cs typeface="Arial" pitchFamily="34" charset="-120"/>
              </a:rPr>
              <a:t>eMapR Lab</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697480"/>
            <a:ext cx="10515600" cy="365760"/>
          </a:xfrm>
          <a:prstGeom prst="rect">
            <a:avLst/>
          </a:prstGeom>
          <a:noFill/>
          <a:ln/>
        </p:spPr>
        <p:txBody>
          <a:bodyPr wrap="square" lIns="0" tIns="0" rIns="0" bIns="0" rtlCol="0" anchor="ctr"/>
          <a:lstStyle/>
          <a:p>
            <a:pPr indent="0" marL="0">
              <a:buNone/>
            </a:pPr>
            <a:r>
              <a:rPr lang="en-US" sz="1600" dirty="0">
                <a:solidFill>
                  <a:srgbClr val="8A8A8A"/>
                </a:solidFill>
                <a:latin typeface="Arial" pitchFamily="34" charset="0"/>
                <a:ea typeface="Arial" pitchFamily="34" charset="-122"/>
                <a:cs typeface="Arial" pitchFamily="34" charset="-120"/>
              </a:rPr>
              <a:t>Backup</a:t>
            </a:r>
            <a:endParaRPr lang="en-US" sz="1600" dirty="0"/>
          </a:p>
        </p:txBody>
      </p:sp>
      <p:sp>
        <p:nvSpPr>
          <p:cNvPr id="3" name="Text 1"/>
          <p:cNvSpPr/>
          <p:nvPr/>
        </p:nvSpPr>
        <p:spPr>
          <a:xfrm>
            <a:off x="822960" y="3108960"/>
            <a:ext cx="10515600" cy="1005840"/>
          </a:xfrm>
          <a:prstGeom prst="rect">
            <a:avLst/>
          </a:prstGeom>
          <a:noFill/>
          <a:ln/>
        </p:spPr>
        <p:txBody>
          <a:bodyPr wrap="square" lIns="0" tIns="0" rIns="0" bIns="0" rtlCol="0" anchor="ctr"/>
          <a:lstStyle/>
          <a:p>
            <a:pPr indent="0" marL="0">
              <a:buNone/>
            </a:pPr>
            <a:r>
              <a:rPr lang="en-US" sz="3200" b="1" dirty="0">
                <a:solidFill>
                  <a:srgbClr val="1A1A1A"/>
                </a:solidFill>
                <a:latin typeface="Arial" pitchFamily="34" charset="0"/>
                <a:ea typeface="Arial" pitchFamily="34" charset="-122"/>
                <a:cs typeface="Arial" pitchFamily="34" charset="-120"/>
              </a:rPr>
              <a:t>Supplemental slides</a:t>
            </a:r>
            <a:endParaRPr lang="en-US" sz="3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Choosing the assessment unit</a:t>
            </a:r>
            <a:endParaRPr lang="en-US" sz="2800" dirty="0"/>
          </a:p>
        </p:txBody>
      </p:sp>
      <p:pic>
        <p:nvPicPr>
          <p:cNvPr id="3" name="Image 0" descr="thesis_materials/figures/fig_3_2_detection_rate_a.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Aggregate accuracy, ten-class</a:t>
            </a:r>
            <a:endParaRPr lang="en-US" sz="2800" dirty="0"/>
          </a:p>
        </p:txBody>
      </p:sp>
      <p:pic>
        <p:nvPicPr>
          <p:cNvPr id="3" name="Image 0" descr="thesis_materials/figures/fig_2_4_oa_by_bracket.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Per-cell change-class F1</a:t>
            </a:r>
            <a:endParaRPr lang="en-US" sz="2800" dirty="0"/>
          </a:p>
        </p:txBody>
      </p:sp>
      <p:pic>
        <p:nvPicPr>
          <p:cNvPr id="3" name="Image 0" descr="thesis_materials/figures/fig_2_6_change_f1.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Rare classes vanish from small samples</a:t>
            </a:r>
            <a:endParaRPr lang="en-US" sz="2800" dirty="0"/>
          </a:p>
        </p:txBody>
      </p:sp>
      <p:pic>
        <p:nvPicPr>
          <p:cNvPr id="3" name="Image 0" descr="thesis_materials/figures/fig_3_9_class_absence.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Coherent maps cost more to validate</a:t>
            </a:r>
            <a:endParaRPr lang="en-US" sz="2800" dirty="0"/>
          </a:p>
        </p:txBody>
      </p:sp>
      <p:pic>
        <p:nvPicPr>
          <p:cNvPr id="3" name="Image 0" descr="thesis_materials/figures/fig_3_8_design_effect.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Stratify toward rare classes, then weight</a:t>
            </a:r>
            <a:endParaRPr lang="en-US" sz="2800" dirty="0"/>
          </a:p>
        </p:txBody>
      </p:sp>
      <p:pic>
        <p:nvPicPr>
          <p:cNvPr id="3" name="Image 0" descr="thesis_materials/figures/fig_S3_3_figure_S_bias_vs_n.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Sampling precision against sample size</a:t>
            </a:r>
            <a:endParaRPr lang="en-US" sz="2800" dirty="0"/>
          </a:p>
        </p:txBody>
      </p:sp>
      <p:pic>
        <p:nvPicPr>
          <p:cNvPr id="3" name="Image 0" descr="thesis_materials/figures/fig_3_7_sd_vs_n.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Simulated landscapes and their renditions</a:t>
            </a:r>
            <a:endParaRPr lang="en-US" sz="2800" dirty="0"/>
          </a:p>
        </p:txBody>
      </p:sp>
      <p:sp>
        <p:nvSpPr>
          <p:cNvPr id="3" name="Shape 1"/>
          <p:cNvSpPr/>
          <p:nvPr/>
        </p:nvSpPr>
        <p:spPr>
          <a:xfrm>
            <a:off x="685800" y="1051560"/>
            <a:ext cx="10817352" cy="5486400"/>
          </a:xfrm>
          <a:prstGeom prst="rect">
            <a:avLst/>
          </a:prstGeom>
          <a:solidFill>
            <a:srgbClr val="FFFFFF"/>
          </a:solidFill>
          <a:ln w="12700">
            <a:solidFill>
              <a:srgbClr val="C8C8C8"/>
            </a:solidFill>
            <a:prstDash val="dash"/>
          </a:ln>
        </p:spPr>
      </p:sp>
      <p:sp>
        <p:nvSpPr>
          <p:cNvPr id="4" name="Text 2"/>
          <p:cNvSpPr/>
          <p:nvPr/>
        </p:nvSpPr>
        <p:spPr>
          <a:xfrm>
            <a:off x="685800" y="3520440"/>
            <a:ext cx="10817352" cy="548640"/>
          </a:xfrm>
          <a:prstGeom prst="rect">
            <a:avLst/>
          </a:prstGeom>
          <a:noFill/>
          <a:ln/>
        </p:spPr>
        <p:txBody>
          <a:bodyPr wrap="square" lIns="0" tIns="0" rIns="0" bIns="0" rtlCol="0" anchor="ctr"/>
          <a:lstStyle/>
          <a:p>
            <a:pPr algn="ctr" indent="0" marL="0">
              <a:buNone/>
            </a:pPr>
            <a:r>
              <a:rPr lang="en-US" sz="1400" dirty="0">
                <a:solidFill>
                  <a:srgbClr val="8A8A8A"/>
                </a:solidFill>
                <a:latin typeface="Arial" pitchFamily="34" charset="0"/>
                <a:ea typeface="Arial" pitchFamily="34" charset="-122"/>
                <a:cs typeface="Arial" pitchFamily="34" charset="-120"/>
              </a:rPr>
              <a:t>[ pres_10_simulation_landscapes.png ]</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Agreement under spatial tolerance</a:t>
            </a:r>
            <a:endParaRPr lang="en-US" sz="2800" dirty="0"/>
          </a:p>
        </p:txBody>
      </p:sp>
      <p:pic>
        <p:nvPicPr>
          <p:cNvPr id="3" name="Image 0" descr="thesis_materials/figures/fig_3_6_spatial_tolerance.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Where interpreters disagree</a:t>
            </a:r>
            <a:endParaRPr lang="en-US" sz="2800" dirty="0"/>
          </a:p>
        </p:txBody>
      </p:sp>
      <p:pic>
        <p:nvPicPr>
          <p:cNvPr id="3" name="Image 0" descr="thesis_materials/figures/fig_3_4_disagreement_geometry.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Opposing labels on the same ground</a:t>
            </a:r>
            <a:endParaRPr lang="en-US" sz="2800" dirty="0"/>
          </a:p>
        </p:txBody>
      </p:sp>
      <p:pic>
        <p:nvPicPr>
          <p:cNvPr id="3" name="Image 0" descr="thesis_materials/figures/fig_3_5_training_conflict.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Ten-class interpreter agreement</a:t>
            </a:r>
            <a:endParaRPr lang="en-US" sz="2800" dirty="0"/>
          </a:p>
        </p:txBody>
      </p:sp>
      <p:pic>
        <p:nvPicPr>
          <p:cNvPr id="3" name="Image 0" descr="thesis_materials/figures/fig_S3_1_figure_S_agreement_forest_10class.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Moran's I by configuration</a:t>
            </a:r>
            <a:endParaRPr lang="en-US" sz="2800" dirty="0"/>
          </a:p>
        </p:txBody>
      </p:sp>
      <p:pic>
        <p:nvPicPr>
          <p:cNvPr id="3" name="Image 0" descr="thesis_materials/figures/fig_2_8_morans_i.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Embeddings against spectral, by class</a:t>
            </a:r>
            <a:endParaRPr lang="en-US" sz="2800" dirty="0"/>
          </a:p>
        </p:txBody>
      </p:sp>
      <p:pic>
        <p:nvPicPr>
          <p:cNvPr id="3" name="Image 0" descr="thesis_materials/figures/fig_S2_3_spectral_vs_embedding_a.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Combined embeddings and spectral</a:t>
            </a:r>
            <a:endParaRPr lang="en-US" sz="2800" dirty="0"/>
          </a:p>
        </p:txBody>
      </p:sp>
      <p:pic>
        <p:nvPicPr>
          <p:cNvPr id="3" name="Image 0" descr="presentation/figures/variant_composition_full_navy_diamond.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Tasseled Cap class trajectories</a:t>
            </a:r>
            <a:endParaRPr lang="en-US" sz="2800" dirty="0"/>
          </a:p>
        </p:txBody>
      </p:sp>
      <p:pic>
        <p:nvPicPr>
          <p:cNvPr id="3" name="Image 0" descr="presentation/figures/tc_trajectory.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Tasseled Cap diagnostics</a:t>
            </a:r>
            <a:endParaRPr lang="en-US" sz="2800" dirty="0"/>
          </a:p>
        </p:txBody>
      </p:sp>
      <p:pic>
        <p:nvPicPr>
          <p:cNvPr id="3" name="Image 0" descr="thesis_materials/figures/fig_S2_5_tc_diagnostics_a.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Confusion matrix, v2</a:t>
            </a:r>
            <a:endParaRPr lang="en-US" sz="2800" dirty="0"/>
          </a:p>
        </p:txBody>
      </p:sp>
      <p:pic>
        <p:nvPicPr>
          <p:cNvPr id="3" name="Image 0" descr="thesis_materials/figures/fig_2_12_confusion_a.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Confusion matrix, spec_all</a:t>
            </a:r>
            <a:endParaRPr lang="en-US" sz="2800" dirty="0"/>
          </a:p>
        </p:txBody>
      </p:sp>
      <p:pic>
        <p:nvPicPr>
          <p:cNvPr id="3" name="Image 0" descr="thesis_materials/figures/fig_2_12_confusion_b.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Change-polygon size by agent</a:t>
            </a:r>
            <a:endParaRPr lang="en-US" sz="2800" dirty="0"/>
          </a:p>
        </p:txBody>
      </p:sp>
      <p:pic>
        <p:nvPicPr>
          <p:cNvPr id="3" name="Image 0" descr="thesis_materials/figures/fig_3_1_polygon_size.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Total polygon area by agent</a:t>
            </a:r>
            <a:endParaRPr lang="en-US" sz="2800" dirty="0"/>
          </a:p>
        </p:txBody>
      </p:sp>
      <p:pic>
        <p:nvPicPr>
          <p:cNvPr id="3" name="Image 0" descr="presentation/figures/pres_02b_polygon_area_2018_2020.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Stratification efficiency</a:t>
            </a:r>
            <a:endParaRPr lang="en-US" sz="2800" dirty="0"/>
          </a:p>
        </p:txBody>
      </p:sp>
      <p:pic>
        <p:nvPicPr>
          <p:cNvPr id="3" name="Image 0" descr="thesis_materials/figures/fig_S3_4_figure_S_strat_efficiency.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Approach D proportion correlation</a:t>
            </a:r>
            <a:endParaRPr lang="en-US" sz="2800" dirty="0"/>
          </a:p>
        </p:txBody>
      </p:sp>
      <p:pic>
        <p:nvPicPr>
          <p:cNvPr id="3" name="Image 0" descr="thesis_materials/figures/fig_S3_5_figure_S_d_corr_vs_n.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Dedup-selection sensitivity</a:t>
            </a:r>
            <a:endParaRPr lang="en-US" sz="2800" dirty="0"/>
          </a:p>
        </p:txBody>
      </p:sp>
      <p:pic>
        <p:nvPicPr>
          <p:cNvPr id="3" name="Image 0" descr="thesis_materials/figures/fig_S2_4_dedup_sensitivity.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Reviewer over-assignment</a:t>
            </a:r>
            <a:endParaRPr lang="en-US" sz="2800" dirty="0"/>
          </a:p>
        </p:txBody>
      </p:sp>
      <p:pic>
        <p:nvPicPr>
          <p:cNvPr id="3" name="Image 0" descr="thesis_materials/figures/fig_S2_6_reviewer_overassignment.png">    </p:cNvPr>
          <p:cNvPicPr>
            <a:picLocks noChangeAspect="1"/>
          </p:cNvPicPr>
          <p:nvPr/>
        </p:nvPicPr>
        <p:blipFill>
          <a:blip r:embed="rId1"/>
          <a:srcRect l="0" r="0" t="0" b="0"/>
          <a:stretch/>
        </p:blipFill>
        <p:spPr>
          <a:xfrm>
            <a:off x="685800" y="1051560"/>
            <a:ext cx="10817352" cy="5486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Satellite embeddings for landscape change attribution</dc:title>
  <dc:subject>PptxGenJS Presentation</dc:subject>
  <dc:creator>Mina Burns</dc:creator>
  <cp:lastModifiedBy>Mina Burns</cp:lastModifiedBy>
  <cp:revision>1</cp:revision>
  <dcterms:created xsi:type="dcterms:W3CDTF">2026-07-31T05:54:26Z</dcterms:created>
  <dcterms:modified xsi:type="dcterms:W3CDTF">2026-07-31T05:54:26Z</dcterms:modified>
</cp:coreProperties>
</file>